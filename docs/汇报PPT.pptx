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9"/>
  </p:notesMasterIdLst>
  <p:sldIdLst>
    <p:sldId id="269" r:id="rId2"/>
    <p:sldId id="257" r:id="rId3"/>
    <p:sldId id="258" r:id="rId4"/>
    <p:sldId id="281" r:id="rId5"/>
    <p:sldId id="261" r:id="rId6"/>
    <p:sldId id="292" r:id="rId7"/>
    <p:sldId id="262" r:id="rId8"/>
    <p:sldId id="260" r:id="rId9"/>
    <p:sldId id="263" r:id="rId10"/>
    <p:sldId id="271" r:id="rId11"/>
    <p:sldId id="267" r:id="rId12"/>
    <p:sldId id="264" r:id="rId13"/>
    <p:sldId id="259" r:id="rId14"/>
    <p:sldId id="268" r:id="rId15"/>
    <p:sldId id="265" r:id="rId16"/>
    <p:sldId id="266"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46" autoAdjust="0"/>
    <p:restoredTop sz="82579" autoAdjust="0"/>
  </p:normalViewPr>
  <p:slideViewPr>
    <p:cSldViewPr snapToGrid="0">
      <p:cViewPr varScale="1">
        <p:scale>
          <a:sx n="75" d="100"/>
          <a:sy n="75" d="100"/>
        </p:scale>
        <p:origin x="81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黑体" panose="02010609060101010101" pitchFamily="49" charset="-122"/>
                <a:ea typeface="黑体" panose="02010609060101010101" pitchFamily="49"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黑体" panose="02010609060101010101" pitchFamily="49" charset="-122"/>
                <a:ea typeface="黑体" panose="02010609060101010101" pitchFamily="49" charset="-122"/>
              </a:defRPr>
            </a:lvl1pPr>
          </a:lstStyle>
          <a:p>
            <a:fld id="{3B5029A5-1F39-4D22-8312-FDD33D34A02F}" type="datetimeFigureOut">
              <a:rPr lang="zh-CN" altLang="en-US" smtClean="0"/>
              <a:pPr/>
              <a:t>2025/12/14</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黑体" panose="02010609060101010101" pitchFamily="49" charset="-122"/>
                <a:ea typeface="黑体" panose="02010609060101010101" pitchFamily="49"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黑体" panose="02010609060101010101" pitchFamily="49" charset="-122"/>
                <a:ea typeface="黑体" panose="02010609060101010101" pitchFamily="49" charset="-122"/>
              </a:defRPr>
            </a:lvl1pPr>
          </a:lstStyle>
          <a:p>
            <a:fld id="{9137C4C7-AC49-45BB-B1B1-0675CFA8CC36}" type="slidenum">
              <a:rPr lang="zh-CN" altLang="en-US" smtClean="0"/>
              <a:pPr/>
              <a:t>‹#›</a:t>
            </a:fld>
            <a:endParaRPr lang="zh-CN" altLang="en-US" dirty="0"/>
          </a:p>
        </p:txBody>
      </p:sp>
    </p:spTree>
    <p:extLst>
      <p:ext uri="{BB962C8B-B14F-4D97-AF65-F5344CB8AC3E}">
        <p14:creationId xmlns:p14="http://schemas.microsoft.com/office/powerpoint/2010/main" val="2962641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黑体" panose="02010609060101010101" pitchFamily="49" charset="-122"/>
        <a:ea typeface="黑体" panose="02010609060101010101" pitchFamily="49" charset="-122"/>
        <a:cs typeface="+mn-cs"/>
      </a:defRPr>
    </a:lvl1pPr>
    <a:lvl2pPr marL="457200" algn="l" defTabSz="914400" rtl="0" eaLnBrk="1" latinLnBrk="0" hangingPunct="1">
      <a:defRPr sz="1200" kern="1200">
        <a:solidFill>
          <a:schemeClr val="tx1"/>
        </a:solidFill>
        <a:latin typeface="黑体" panose="02010609060101010101" pitchFamily="49" charset="-122"/>
        <a:ea typeface="黑体" panose="02010609060101010101" pitchFamily="49" charset="-122"/>
        <a:cs typeface="+mn-cs"/>
      </a:defRPr>
    </a:lvl2pPr>
    <a:lvl3pPr marL="914400" algn="l" defTabSz="914400" rtl="0" eaLnBrk="1" latinLnBrk="0" hangingPunct="1">
      <a:defRPr sz="1200" kern="1200">
        <a:solidFill>
          <a:schemeClr val="tx1"/>
        </a:solidFill>
        <a:latin typeface="黑体" panose="02010609060101010101" pitchFamily="49" charset="-122"/>
        <a:ea typeface="黑体" panose="02010609060101010101" pitchFamily="49" charset="-122"/>
        <a:cs typeface="+mn-cs"/>
      </a:defRPr>
    </a:lvl3pPr>
    <a:lvl4pPr marL="1371600" algn="l" defTabSz="914400" rtl="0" eaLnBrk="1" latinLnBrk="0" hangingPunct="1">
      <a:defRPr sz="1200" kern="1200">
        <a:solidFill>
          <a:schemeClr val="tx1"/>
        </a:solidFill>
        <a:latin typeface="黑体" panose="02010609060101010101" pitchFamily="49" charset="-122"/>
        <a:ea typeface="黑体" panose="02010609060101010101" pitchFamily="49" charset="-122"/>
        <a:cs typeface="+mn-cs"/>
      </a:defRPr>
    </a:lvl4pPr>
    <a:lvl5pPr marL="1828800" algn="l" defTabSz="914400" rtl="0" eaLnBrk="1" latinLnBrk="0" hangingPunct="1">
      <a:defRPr sz="1200" kern="1200">
        <a:solidFill>
          <a:schemeClr val="tx1"/>
        </a:solidFill>
        <a:latin typeface="黑体" panose="02010609060101010101" pitchFamily="49" charset="-122"/>
        <a:ea typeface="黑体" panose="02010609060101010101" pitchFamily="49"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大家好</a:t>
            </a:r>
            <a:endParaRPr lang="en-US" altLang="zh-CN" dirty="0"/>
          </a:p>
          <a:p>
            <a:r>
              <a:rPr lang="zh-CN" altLang="en-US" dirty="0"/>
              <a:t>我选择的算法是支持向量机，启发式算法是</a:t>
            </a:r>
            <a:r>
              <a:rPr lang="en-US" altLang="zh-CN" dirty="0"/>
              <a:t>NOA</a:t>
            </a:r>
            <a:endParaRPr lang="zh-CN" altLang="en-US" dirty="0"/>
          </a:p>
        </p:txBody>
      </p:sp>
      <p:sp>
        <p:nvSpPr>
          <p:cNvPr id="4" name="灯片编号占位符 3"/>
          <p:cNvSpPr>
            <a:spLocks noGrp="1"/>
          </p:cNvSpPr>
          <p:nvPr>
            <p:ph type="sldNum" sz="quarter" idx="5"/>
          </p:nvPr>
        </p:nvSpPr>
        <p:spPr/>
        <p:txBody>
          <a:bodyPr/>
          <a:lstStyle/>
          <a:p>
            <a:fld id="{9137C4C7-AC49-45BB-B1B1-0675CFA8CC36}" type="slidenum">
              <a:rPr lang="zh-CN" altLang="en-US" smtClean="0"/>
              <a:pPr/>
              <a:t>1</a:t>
            </a:fld>
            <a:endParaRPr lang="zh-CN" altLang="en-US" dirty="0"/>
          </a:p>
        </p:txBody>
      </p:sp>
    </p:spTree>
    <p:extLst>
      <p:ext uri="{BB962C8B-B14F-4D97-AF65-F5344CB8AC3E}">
        <p14:creationId xmlns:p14="http://schemas.microsoft.com/office/powerpoint/2010/main" val="1161622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我们用到的算法是星鸦优化算法（</a:t>
            </a:r>
            <a:r>
              <a:rPr lang="en-US" altLang="zh-CN" dirty="0"/>
              <a:t>NOA</a:t>
            </a:r>
            <a:r>
              <a:rPr lang="zh-CN" altLang="en-US" dirty="0"/>
              <a:t>），</a:t>
            </a:r>
            <a:r>
              <a:rPr lang="en-US" altLang="zh-CN" dirty="0"/>
              <a:t>NOA</a:t>
            </a:r>
            <a:r>
              <a:rPr lang="zh-CN" altLang="en-US" dirty="0"/>
              <a:t>是一种新颖的元启发式算法，它的主要思想是模仿星鸦在一年四季中的行为。</a:t>
            </a:r>
            <a:endParaRPr lang="en-US" altLang="zh-CN" dirty="0"/>
          </a:p>
          <a:p>
            <a:r>
              <a:rPr lang="en-US" altLang="zh-CN" dirty="0"/>
              <a:t>【</a:t>
            </a:r>
            <a:r>
              <a:rPr lang="zh-CN" altLang="en-US" dirty="0"/>
              <a:t>简单</a:t>
            </a:r>
            <a:r>
              <a:rPr lang="en-US" altLang="zh-CN" dirty="0"/>
              <a:t>】</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9137C4C7-AC49-45BB-B1B1-0675CFA8CC36}" type="slidenum">
              <a:rPr lang="zh-CN" altLang="en-US" smtClean="0"/>
              <a:t>2</a:t>
            </a:fld>
            <a:endParaRPr lang="zh-CN" altLang="en-US"/>
          </a:p>
        </p:txBody>
      </p:sp>
    </p:spTree>
    <p:extLst>
      <p:ext uri="{BB962C8B-B14F-4D97-AF65-F5344CB8AC3E}">
        <p14:creationId xmlns:p14="http://schemas.microsoft.com/office/powerpoint/2010/main" val="39189205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NOA</a:t>
            </a:r>
            <a:r>
              <a:rPr lang="zh-CN" altLang="en-US" dirty="0"/>
              <a:t>主要分为觅食（左边）和找寻（右边）两个阶段。</a:t>
            </a:r>
            <a:endParaRPr lang="en-US" altLang="zh-CN" dirty="0"/>
          </a:p>
          <a:p>
            <a:r>
              <a:rPr lang="zh-CN" altLang="en-US" dirty="0"/>
              <a:t>在每次迭代的过程中，算法会随机选择觅食或者找寻。如果选择</a:t>
            </a:r>
            <a:endParaRPr lang="en-US" altLang="zh-CN" dirty="0"/>
          </a:p>
          <a:p>
            <a:endParaRPr lang="en-US" altLang="zh-CN" dirty="0"/>
          </a:p>
          <a:p>
            <a:r>
              <a:rPr lang="zh-CN" altLang="en-US" dirty="0"/>
              <a:t>通过这两个阶段实现了全局探索和局部挖掘的平衡。</a:t>
            </a:r>
          </a:p>
          <a:p>
            <a:endParaRPr lang="zh-CN" altLang="en-US" dirty="0"/>
          </a:p>
        </p:txBody>
      </p:sp>
      <p:sp>
        <p:nvSpPr>
          <p:cNvPr id="4" name="灯片编号占位符 3"/>
          <p:cNvSpPr>
            <a:spLocks noGrp="1"/>
          </p:cNvSpPr>
          <p:nvPr>
            <p:ph type="sldNum" sz="quarter" idx="5"/>
          </p:nvPr>
        </p:nvSpPr>
        <p:spPr/>
        <p:txBody>
          <a:bodyPr/>
          <a:lstStyle/>
          <a:p>
            <a:fld id="{9137C4C7-AC49-45BB-B1B1-0675CFA8CC36}" type="slidenum">
              <a:rPr lang="zh-CN" altLang="en-US" smtClean="0"/>
              <a:t>3</a:t>
            </a:fld>
            <a:endParaRPr lang="zh-CN" altLang="en-US"/>
          </a:p>
        </p:txBody>
      </p:sp>
    </p:spTree>
    <p:extLst>
      <p:ext uri="{BB962C8B-B14F-4D97-AF65-F5344CB8AC3E}">
        <p14:creationId xmlns:p14="http://schemas.microsoft.com/office/powerpoint/2010/main" val="5229193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首先是</a:t>
            </a:r>
            <a:r>
              <a:rPr lang="en-US" altLang="zh-CN" dirty="0" err="1"/>
              <a:t>SVM</a:t>
            </a:r>
            <a:r>
              <a:rPr lang="zh-CN" altLang="en-US" dirty="0"/>
              <a:t>的简单介绍。</a:t>
            </a:r>
          </a:p>
          <a:p>
            <a:r>
              <a:rPr lang="en-US" altLang="zh-CN" dirty="0" err="1"/>
              <a:t>SVM</a:t>
            </a:r>
            <a:r>
              <a:rPr lang="zh-CN" altLang="en-US" dirty="0"/>
              <a:t>的核心思想是找到一个使分类间隔最大的超平面。</a:t>
            </a:r>
          </a:p>
          <a:p>
            <a:r>
              <a:rPr lang="en-US" altLang="zh-CN" dirty="0" err="1"/>
              <a:t>SVM</a:t>
            </a:r>
            <a:r>
              <a:rPr lang="zh-CN" altLang="en-US" dirty="0"/>
              <a:t>有几项关键的技术，分别是</a:t>
            </a:r>
            <a:r>
              <a:rPr lang="en-US" altLang="zh-CN" dirty="0"/>
              <a:t>SMO</a:t>
            </a:r>
            <a:r>
              <a:rPr lang="zh-CN" altLang="en-US" dirty="0"/>
              <a:t>，软间隔和正则化。</a:t>
            </a:r>
            <a:endParaRPr lang="en-US" altLang="zh-CN" dirty="0"/>
          </a:p>
          <a:p>
            <a:r>
              <a:rPr lang="en-US" altLang="zh-CN" dirty="0"/>
              <a:t>SMO</a:t>
            </a:r>
            <a:r>
              <a:rPr lang="zh-CN" altLang="en-US" dirty="0"/>
              <a:t>用于快速高效的运行算法，而核函数和软间隔分别用于解决非线性和非可分问题。</a:t>
            </a:r>
            <a:endParaRPr lang="en-US" altLang="zh-CN" dirty="0"/>
          </a:p>
          <a:p>
            <a:r>
              <a:rPr lang="en-US" altLang="zh-CN" dirty="0"/>
              <a:t>【</a:t>
            </a:r>
            <a:r>
              <a:rPr lang="zh-CN" altLang="en-US" dirty="0"/>
              <a:t>详细</a:t>
            </a:r>
            <a:r>
              <a:rPr lang="en-US" altLang="zh-CN" dirty="0"/>
              <a:t>】</a:t>
            </a:r>
            <a:endParaRPr lang="zh-CN" altLang="en-US" dirty="0"/>
          </a:p>
        </p:txBody>
      </p:sp>
      <p:sp>
        <p:nvSpPr>
          <p:cNvPr id="4" name="灯片编号占位符 3"/>
          <p:cNvSpPr>
            <a:spLocks noGrp="1"/>
          </p:cNvSpPr>
          <p:nvPr>
            <p:ph type="sldNum" sz="quarter" idx="5"/>
          </p:nvPr>
        </p:nvSpPr>
        <p:spPr/>
        <p:txBody>
          <a:bodyPr/>
          <a:lstStyle/>
          <a:p>
            <a:fld id="{9137C4C7-AC49-45BB-B1B1-0675CFA8CC36}" type="slidenum">
              <a:rPr lang="zh-CN" altLang="en-US" smtClean="0"/>
              <a:t>5</a:t>
            </a:fld>
            <a:endParaRPr lang="zh-CN" altLang="en-US"/>
          </a:p>
        </p:txBody>
      </p:sp>
    </p:spTree>
    <p:extLst>
      <p:ext uri="{BB962C8B-B14F-4D97-AF65-F5344CB8AC3E}">
        <p14:creationId xmlns:p14="http://schemas.microsoft.com/office/powerpoint/2010/main" val="1787193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在优化过程中，有许多拉格朗日乘子</a:t>
            </a:r>
            <a:r>
              <a:rPr lang="en-US" altLang="zh-CN" dirty="0"/>
              <a:t>α</a:t>
            </a:r>
            <a:r>
              <a:rPr lang="zh-CN" altLang="en-US" dirty="0"/>
              <a:t>均为</a:t>
            </a:r>
            <a:r>
              <a:rPr lang="en-US" altLang="zh-CN" dirty="0"/>
              <a:t>0</a:t>
            </a:r>
            <a:r>
              <a:rPr lang="zh-CN" altLang="en-US" dirty="0"/>
              <a:t>。</a:t>
            </a:r>
            <a:r>
              <a:rPr lang="en-US" altLang="zh-CN" dirty="0"/>
              <a:t>SMO</a:t>
            </a:r>
            <a:r>
              <a:rPr lang="zh-CN" altLang="en-US" dirty="0"/>
              <a:t>通过这种方法可以很好的加速拉格朗日算子的求解。</a:t>
            </a:r>
          </a:p>
        </p:txBody>
      </p:sp>
      <p:sp>
        <p:nvSpPr>
          <p:cNvPr id="4" name="灯片编号占位符 3"/>
          <p:cNvSpPr>
            <a:spLocks noGrp="1"/>
          </p:cNvSpPr>
          <p:nvPr>
            <p:ph type="sldNum" sz="quarter" idx="5"/>
          </p:nvPr>
        </p:nvSpPr>
        <p:spPr/>
        <p:txBody>
          <a:bodyPr/>
          <a:lstStyle/>
          <a:p>
            <a:fld id="{9137C4C7-AC49-45BB-B1B1-0675CFA8CC36}" type="slidenum">
              <a:rPr lang="zh-CN" altLang="en-US" smtClean="0"/>
              <a:pPr/>
              <a:t>6</a:t>
            </a:fld>
            <a:endParaRPr lang="zh-CN" altLang="en-US" dirty="0"/>
          </a:p>
        </p:txBody>
      </p:sp>
    </p:spTree>
    <p:extLst>
      <p:ext uri="{BB962C8B-B14F-4D97-AF65-F5344CB8AC3E}">
        <p14:creationId xmlns:p14="http://schemas.microsoft.com/office/powerpoint/2010/main" val="8471474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但是，</a:t>
            </a:r>
            <a:r>
              <a:rPr lang="en-US" altLang="zh-CN" dirty="0" err="1"/>
              <a:t>SVM</a:t>
            </a:r>
            <a:r>
              <a:rPr lang="zh-CN" altLang="en-US" dirty="0"/>
              <a:t>仍然存在一些问题。</a:t>
            </a:r>
          </a:p>
          <a:p>
            <a:r>
              <a:rPr lang="zh-CN" altLang="en-US" dirty="0"/>
              <a:t>首先是参数问题，核函数和软间隔都会引入参数。经验法对于未知的测试集效果不佳，而采用网格法调参速度很慢。</a:t>
            </a:r>
            <a:endParaRPr lang="en-US" altLang="zh-CN" dirty="0"/>
          </a:p>
          <a:p>
            <a:r>
              <a:rPr lang="zh-CN" altLang="en-US" dirty="0"/>
              <a:t>其次是</a:t>
            </a:r>
            <a:r>
              <a:rPr lang="en-US" altLang="zh-CN" dirty="0" err="1"/>
              <a:t>SVM</a:t>
            </a:r>
            <a:r>
              <a:rPr lang="zh-CN" altLang="en-US" dirty="0"/>
              <a:t>本身的性能瓶颈。采用</a:t>
            </a:r>
            <a:r>
              <a:rPr lang="en-US" altLang="zh-CN" dirty="0"/>
              <a:t>RBF</a:t>
            </a:r>
            <a:r>
              <a:rPr lang="zh-CN" altLang="en-US" dirty="0"/>
              <a:t>核函数的</a:t>
            </a:r>
            <a:r>
              <a:rPr lang="en-US" altLang="zh-CN" dirty="0" err="1"/>
              <a:t>SVM</a:t>
            </a:r>
            <a:r>
              <a:rPr lang="zh-CN" altLang="en-US" dirty="0"/>
              <a:t>实际上等价于一个单层的</a:t>
            </a:r>
            <a:r>
              <a:rPr lang="en-US" altLang="zh-CN" dirty="0"/>
              <a:t>RBF</a:t>
            </a:r>
            <a:r>
              <a:rPr lang="zh-CN" altLang="en-US" dirty="0"/>
              <a:t>神经网络，而单层的神经网络对于复杂问题的拟合能力相对有限。</a:t>
            </a:r>
          </a:p>
          <a:p>
            <a:r>
              <a:rPr lang="zh-CN" altLang="en-US" dirty="0"/>
              <a:t>这项研究重点针对这些问题进行了优化，探究“如何采用启发式算法，有效的调整</a:t>
            </a:r>
            <a:r>
              <a:rPr lang="en-US" altLang="zh-CN" dirty="0" err="1"/>
              <a:t>SVM</a:t>
            </a:r>
            <a:r>
              <a:rPr lang="zh-CN" altLang="en-US" dirty="0"/>
              <a:t>的参数，同时给予</a:t>
            </a:r>
            <a:r>
              <a:rPr lang="en-US" altLang="zh-CN" dirty="0" err="1"/>
              <a:t>SVM</a:t>
            </a:r>
            <a:r>
              <a:rPr lang="zh-CN" altLang="en-US" dirty="0"/>
              <a:t>模型更强的，拟合复杂数据的能力</a:t>
            </a:r>
            <a:endParaRPr lang="en-US" altLang="zh-CN" dirty="0"/>
          </a:p>
          <a:p>
            <a:r>
              <a:rPr lang="en-US" altLang="zh-CN" dirty="0"/>
              <a:t>【</a:t>
            </a:r>
            <a:r>
              <a:rPr lang="zh-CN" altLang="en-US" dirty="0"/>
              <a:t>一般</a:t>
            </a:r>
            <a:r>
              <a:rPr lang="en-US" altLang="zh-CN" dirty="0"/>
              <a:t>】</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9137C4C7-AC49-45BB-B1B1-0675CFA8CC36}" type="slidenum">
              <a:rPr lang="zh-CN" altLang="en-US" smtClean="0"/>
              <a:t>7</a:t>
            </a:fld>
            <a:endParaRPr lang="zh-CN" altLang="en-US"/>
          </a:p>
        </p:txBody>
      </p:sp>
    </p:spTree>
    <p:extLst>
      <p:ext uri="{BB962C8B-B14F-4D97-AF65-F5344CB8AC3E}">
        <p14:creationId xmlns:p14="http://schemas.microsoft.com/office/powerpoint/2010/main" val="25043853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结合</a:t>
            </a:r>
            <a:r>
              <a:rPr lang="en-US" altLang="zh-CN" dirty="0"/>
              <a:t>NOA</a:t>
            </a:r>
            <a:r>
              <a:rPr lang="zh-CN" altLang="en-US" dirty="0"/>
              <a:t>，我采用了一种</a:t>
            </a:r>
            <a:r>
              <a:rPr lang="en-US" altLang="zh-CN" dirty="0"/>
              <a:t>NOA-</a:t>
            </a:r>
            <a:r>
              <a:rPr lang="en-US" altLang="zh-CN" dirty="0" err="1"/>
              <a:t>SVM</a:t>
            </a:r>
            <a:r>
              <a:rPr lang="zh-CN" altLang="en-US" dirty="0"/>
              <a:t>算法。</a:t>
            </a:r>
          </a:p>
          <a:p>
            <a:r>
              <a:rPr lang="zh-CN" altLang="en-US" dirty="0"/>
              <a:t>本算法采用</a:t>
            </a:r>
            <a:r>
              <a:rPr lang="en-US" altLang="zh-CN" dirty="0"/>
              <a:t>NOA</a:t>
            </a:r>
            <a:r>
              <a:rPr lang="zh-CN" altLang="en-US" dirty="0"/>
              <a:t>主要优化</a:t>
            </a:r>
            <a:r>
              <a:rPr lang="en-US" altLang="zh-CN" dirty="0" err="1"/>
              <a:t>SVM</a:t>
            </a:r>
            <a:r>
              <a:rPr lang="zh-CN" altLang="en-US" dirty="0"/>
              <a:t>的两类参数，</a:t>
            </a:r>
          </a:p>
          <a:p>
            <a:r>
              <a:rPr lang="zh-CN" altLang="en-US" dirty="0"/>
              <a:t>首先是</a:t>
            </a:r>
            <a:r>
              <a:rPr lang="en-US" altLang="zh-CN" dirty="0" err="1"/>
              <a:t>SVM</a:t>
            </a:r>
            <a:r>
              <a:rPr lang="zh-CN" altLang="en-US" dirty="0"/>
              <a:t>模型的参数。这里面包括了采用的径向基核函数中的参数</a:t>
            </a:r>
            <a:r>
              <a:rPr lang="en-US" altLang="zh-CN" dirty="0"/>
              <a:t>γ</a:t>
            </a:r>
            <a:r>
              <a:rPr lang="zh-CN" altLang="en-US" dirty="0"/>
              <a:t>以及软间隔参数𝐶。</a:t>
            </a:r>
            <a:r>
              <a:rPr lang="en-US" altLang="zh-CN" dirty="0"/>
              <a:t>【</a:t>
            </a:r>
            <a:r>
              <a:rPr lang="zh-CN" altLang="en-US" dirty="0"/>
              <a:t>右上，右中</a:t>
            </a:r>
            <a:r>
              <a:rPr lang="en-US" altLang="zh-CN" dirty="0"/>
              <a:t>】</a:t>
            </a:r>
            <a:endParaRPr lang="zh-CN" altLang="en-US" dirty="0"/>
          </a:p>
          <a:p>
            <a:r>
              <a:rPr lang="zh-CN" altLang="en-US" dirty="0"/>
              <a:t>其次是特征加权系数：用于对不同的特征进行加权，以区分特征的重要性。</a:t>
            </a:r>
            <a:r>
              <a:rPr lang="en-US" altLang="zh-CN" dirty="0"/>
              <a:t> </a:t>
            </a:r>
            <a:r>
              <a:rPr lang="zh-CN" altLang="en-US" dirty="0"/>
              <a:t>整体的编码方案就是这样。</a:t>
            </a:r>
            <a:r>
              <a:rPr lang="en-US" altLang="zh-CN" dirty="0"/>
              <a:t>【</a:t>
            </a:r>
            <a:r>
              <a:rPr lang="zh-CN" altLang="en-US" dirty="0"/>
              <a:t>右下</a:t>
            </a:r>
            <a:r>
              <a:rPr lang="en-US" altLang="zh-CN" dirty="0"/>
              <a:t>】</a:t>
            </a:r>
            <a:endParaRPr lang="zh-CN" altLang="en-US" dirty="0"/>
          </a:p>
          <a:p>
            <a:r>
              <a:rPr lang="zh-CN" altLang="en-US" dirty="0"/>
              <a:t>第一类参数用于优化</a:t>
            </a:r>
            <a:r>
              <a:rPr lang="en-US" altLang="zh-CN" dirty="0" err="1"/>
              <a:t>SVM</a:t>
            </a:r>
            <a:r>
              <a:rPr lang="zh-CN" altLang="en-US" dirty="0"/>
              <a:t>自身的表现，而第二类参数则用于为</a:t>
            </a:r>
            <a:r>
              <a:rPr lang="en-US" altLang="zh-CN" dirty="0" err="1"/>
              <a:t>SVM</a:t>
            </a:r>
            <a:r>
              <a:rPr lang="zh-CN" altLang="en-US" dirty="0"/>
              <a:t>拟合更加复杂的数据提供了帮助。</a:t>
            </a:r>
          </a:p>
          <a:p>
            <a:r>
              <a:rPr lang="en-US" altLang="zh-CN" dirty="0"/>
              <a:t>【</a:t>
            </a:r>
            <a:r>
              <a:rPr lang="zh-CN" altLang="en-US" dirty="0"/>
              <a:t>详细</a:t>
            </a:r>
            <a:r>
              <a:rPr lang="en-US" altLang="zh-CN" dirty="0"/>
              <a:t>】</a:t>
            </a:r>
            <a:endParaRPr lang="zh-CN" altLang="en-US" dirty="0"/>
          </a:p>
        </p:txBody>
      </p:sp>
      <p:sp>
        <p:nvSpPr>
          <p:cNvPr id="4" name="灯片编号占位符 3"/>
          <p:cNvSpPr>
            <a:spLocks noGrp="1"/>
          </p:cNvSpPr>
          <p:nvPr>
            <p:ph type="sldNum" sz="quarter" idx="5"/>
          </p:nvPr>
        </p:nvSpPr>
        <p:spPr/>
        <p:txBody>
          <a:bodyPr/>
          <a:lstStyle/>
          <a:p>
            <a:fld id="{9137C4C7-AC49-45BB-B1B1-0675CFA8CC36}" type="slidenum">
              <a:rPr lang="zh-CN" altLang="en-US" smtClean="0"/>
              <a:t>8</a:t>
            </a:fld>
            <a:endParaRPr lang="zh-CN" altLang="en-US"/>
          </a:p>
        </p:txBody>
      </p:sp>
    </p:spTree>
    <p:extLst>
      <p:ext uri="{BB962C8B-B14F-4D97-AF65-F5344CB8AC3E}">
        <p14:creationId xmlns:p14="http://schemas.microsoft.com/office/powerpoint/2010/main" val="9670346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我的算法的主要流程是通过</a:t>
            </a:r>
            <a:r>
              <a:rPr lang="en-US" altLang="zh-CN" dirty="0"/>
              <a:t>NOA</a:t>
            </a:r>
            <a:r>
              <a:rPr lang="zh-CN" altLang="en-US" dirty="0"/>
              <a:t>在参数空间中进行探索，接着将其用于</a:t>
            </a:r>
            <a:r>
              <a:rPr lang="en-US" altLang="zh-CN" dirty="0" err="1"/>
              <a:t>SVM</a:t>
            </a:r>
            <a:r>
              <a:rPr lang="zh-CN" altLang="en-US" dirty="0"/>
              <a:t>并得到某组参数的适应值。</a:t>
            </a:r>
          </a:p>
          <a:p>
            <a:r>
              <a:rPr lang="en-US" altLang="zh-CN" dirty="0"/>
              <a:t>【</a:t>
            </a:r>
            <a:r>
              <a:rPr lang="zh-CN" altLang="en-US" dirty="0"/>
              <a:t>详细</a:t>
            </a:r>
            <a:r>
              <a:rPr lang="en-US" altLang="zh-CN" dirty="0"/>
              <a:t>】</a:t>
            </a:r>
            <a:endParaRPr lang="zh-CN" altLang="en-US" dirty="0"/>
          </a:p>
        </p:txBody>
      </p:sp>
      <p:sp>
        <p:nvSpPr>
          <p:cNvPr id="4" name="灯片编号占位符 3"/>
          <p:cNvSpPr>
            <a:spLocks noGrp="1"/>
          </p:cNvSpPr>
          <p:nvPr>
            <p:ph type="sldNum" sz="quarter" idx="5"/>
          </p:nvPr>
        </p:nvSpPr>
        <p:spPr/>
        <p:txBody>
          <a:bodyPr/>
          <a:lstStyle/>
          <a:p>
            <a:fld id="{9137C4C7-AC49-45BB-B1B1-0675CFA8CC36}" type="slidenum">
              <a:rPr lang="zh-CN" altLang="en-US" smtClean="0"/>
              <a:t>9</a:t>
            </a:fld>
            <a:endParaRPr lang="zh-CN" altLang="en-US"/>
          </a:p>
        </p:txBody>
      </p:sp>
    </p:spTree>
    <p:extLst>
      <p:ext uri="{BB962C8B-B14F-4D97-AF65-F5344CB8AC3E}">
        <p14:creationId xmlns:p14="http://schemas.microsoft.com/office/powerpoint/2010/main" val="41458726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由于涉及到多分类问题，我们采用了</a:t>
            </a:r>
            <a:r>
              <a:rPr lang="en-US" altLang="zh-CN" dirty="0" err="1"/>
              <a:t>OvO</a:t>
            </a:r>
            <a:r>
              <a:rPr lang="zh-CN" altLang="en-US" dirty="0"/>
              <a:t>的投票法。在训练阶段，对每两个类别都会训练一个模型。这些模型在预测阶段会进行投票，最终根据投票结果决定最终的分类结果。</a:t>
            </a:r>
            <a:endParaRPr lang="en-US" altLang="zh-CN" dirty="0"/>
          </a:p>
          <a:p>
            <a:r>
              <a:rPr lang="zh-CN" altLang="en-US" dirty="0"/>
              <a:t>由于我们采用</a:t>
            </a:r>
            <a:r>
              <a:rPr lang="en-US" altLang="zh-CN" dirty="0"/>
              <a:t>NOA</a:t>
            </a:r>
            <a:r>
              <a:rPr lang="zh-CN" altLang="en-US" dirty="0"/>
              <a:t>对</a:t>
            </a:r>
            <a:r>
              <a:rPr lang="en-US" altLang="zh-CN" dirty="0" err="1"/>
              <a:t>SVM</a:t>
            </a:r>
            <a:r>
              <a:rPr lang="zh-CN" altLang="en-US" dirty="0"/>
              <a:t>的参数进行优化，在这里，为不同的种类进行分类的分类器会获得不同的参数和特征权重，以帮助各个模型更好的解决自生遇到的问题。</a:t>
            </a:r>
            <a:endParaRPr lang="en-US" altLang="zh-CN" dirty="0"/>
          </a:p>
          <a:p>
            <a:r>
              <a:rPr lang="en-US" altLang="zh-CN" dirty="0"/>
              <a:t>【</a:t>
            </a:r>
            <a:r>
              <a:rPr lang="zh-CN" altLang="en-US" dirty="0"/>
              <a:t>详细</a:t>
            </a:r>
            <a:r>
              <a:rPr lang="en-US" altLang="zh-CN" dirty="0"/>
              <a:t>】</a:t>
            </a:r>
            <a:endParaRPr lang="zh-CN" altLang="en-US" dirty="0"/>
          </a:p>
        </p:txBody>
      </p:sp>
      <p:sp>
        <p:nvSpPr>
          <p:cNvPr id="4" name="灯片编号占位符 3"/>
          <p:cNvSpPr>
            <a:spLocks noGrp="1"/>
          </p:cNvSpPr>
          <p:nvPr>
            <p:ph type="sldNum" sz="quarter" idx="5"/>
          </p:nvPr>
        </p:nvSpPr>
        <p:spPr/>
        <p:txBody>
          <a:bodyPr/>
          <a:lstStyle/>
          <a:p>
            <a:fld id="{9137C4C7-AC49-45BB-B1B1-0675CFA8CC36}" type="slidenum">
              <a:rPr lang="zh-CN" altLang="en-US" smtClean="0"/>
              <a:t>10</a:t>
            </a:fld>
            <a:endParaRPr lang="zh-CN" altLang="en-US"/>
          </a:p>
        </p:txBody>
      </p:sp>
    </p:spTree>
    <p:extLst>
      <p:ext uri="{BB962C8B-B14F-4D97-AF65-F5344CB8AC3E}">
        <p14:creationId xmlns:p14="http://schemas.microsoft.com/office/powerpoint/2010/main" val="2484354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这是我们的实验设置。</a:t>
            </a:r>
            <a:endParaRPr lang="en-US" altLang="zh-CN" dirty="0"/>
          </a:p>
          <a:p>
            <a:r>
              <a:rPr lang="zh-CN" altLang="en-US" dirty="0"/>
              <a:t>首先再运行算法以前，我进行了数据预处理。</a:t>
            </a:r>
            <a:r>
              <a:rPr lang="en-US" altLang="zh-CN" dirty="0"/>
              <a:t>…</a:t>
            </a:r>
          </a:p>
          <a:p>
            <a:r>
              <a:rPr lang="zh-CN" altLang="en-US" dirty="0"/>
              <a:t>其次，我采用了在评估方法方面，</a:t>
            </a:r>
            <a:r>
              <a:rPr lang="en-US" altLang="zh-CN" dirty="0"/>
              <a:t>…</a:t>
            </a:r>
            <a:r>
              <a:rPr lang="zh-CN" altLang="en-US" dirty="0"/>
              <a:t>。</a:t>
            </a:r>
            <a:endParaRPr lang="en-US" altLang="zh-CN" dirty="0"/>
          </a:p>
          <a:p>
            <a:r>
              <a:rPr lang="zh-CN" altLang="en-US" dirty="0"/>
              <a:t>在对比算法方面，</a:t>
            </a:r>
            <a:r>
              <a:rPr lang="en-US" altLang="zh-CN" dirty="0"/>
              <a:t>…</a:t>
            </a:r>
            <a:r>
              <a:rPr lang="zh-CN" altLang="en-US" dirty="0"/>
              <a:t>。</a:t>
            </a:r>
            <a:endParaRPr lang="en-US" altLang="zh-CN" dirty="0"/>
          </a:p>
          <a:p>
            <a:r>
              <a:rPr lang="zh-CN" altLang="en-US" dirty="0"/>
              <a:t>这里的决策树是没有经过启发式算法优化的决策树，是我额外实现的。我们组其他成员实现的决策树会在之后介绍。</a:t>
            </a:r>
          </a:p>
        </p:txBody>
      </p:sp>
      <p:sp>
        <p:nvSpPr>
          <p:cNvPr id="4" name="灯片编号占位符 3"/>
          <p:cNvSpPr>
            <a:spLocks noGrp="1"/>
          </p:cNvSpPr>
          <p:nvPr>
            <p:ph type="sldNum" sz="quarter" idx="5"/>
          </p:nvPr>
        </p:nvSpPr>
        <p:spPr/>
        <p:txBody>
          <a:bodyPr/>
          <a:lstStyle/>
          <a:p>
            <a:fld id="{9137C4C7-AC49-45BB-B1B1-0675CFA8CC36}" type="slidenum">
              <a:rPr lang="zh-CN" altLang="en-US" smtClean="0"/>
              <a:t>11</a:t>
            </a:fld>
            <a:endParaRPr lang="zh-CN" altLang="en-US"/>
          </a:p>
        </p:txBody>
      </p:sp>
    </p:spTree>
    <p:extLst>
      <p:ext uri="{BB962C8B-B14F-4D97-AF65-F5344CB8AC3E}">
        <p14:creationId xmlns:p14="http://schemas.microsoft.com/office/powerpoint/2010/main" val="11411414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为了更加全面的评估模型，我采用了两个测试集，分别是</a:t>
            </a:r>
            <a:r>
              <a:rPr lang="en-US" altLang="zh-CN" dirty="0"/>
              <a:t>Iris</a:t>
            </a:r>
            <a:r>
              <a:rPr lang="zh-CN" altLang="en-US" dirty="0"/>
              <a:t>测试集和乳腺癌测试集。</a:t>
            </a:r>
            <a:endParaRPr lang="en-US" altLang="zh-CN" dirty="0"/>
          </a:p>
          <a:p>
            <a:r>
              <a:rPr lang="zh-CN" altLang="en-US" dirty="0"/>
              <a:t>其中，</a:t>
            </a:r>
            <a:r>
              <a:rPr lang="en-US" altLang="zh-CN" dirty="0"/>
              <a:t>Iris</a:t>
            </a:r>
            <a:r>
              <a:rPr lang="zh-CN" altLang="en-US" dirty="0"/>
              <a:t>测试集拥有</a:t>
            </a:r>
            <a:r>
              <a:rPr lang="en-US" altLang="zh-CN" dirty="0"/>
              <a:t>150</a:t>
            </a:r>
            <a:r>
              <a:rPr lang="zh-CN" altLang="en-US" dirty="0"/>
              <a:t>个数据，</a:t>
            </a:r>
            <a:r>
              <a:rPr lang="en-US" altLang="zh-CN" dirty="0"/>
              <a:t>3</a:t>
            </a:r>
            <a:r>
              <a:rPr lang="zh-CN" altLang="en-US" dirty="0"/>
              <a:t>种类别，</a:t>
            </a:r>
            <a:r>
              <a:rPr lang="en-US" altLang="zh-CN" dirty="0"/>
              <a:t>4</a:t>
            </a:r>
            <a:r>
              <a:rPr lang="zh-CN" altLang="en-US" dirty="0"/>
              <a:t>种特征，</a:t>
            </a:r>
            <a:endParaRPr lang="en-US" altLang="zh-CN" dirty="0"/>
          </a:p>
          <a:p>
            <a:r>
              <a:rPr lang="zh-CN" altLang="en-US" dirty="0"/>
              <a:t>而乳腺癌测试集拥有</a:t>
            </a:r>
            <a:r>
              <a:rPr lang="en-US" altLang="zh-CN" dirty="0"/>
              <a:t>569</a:t>
            </a:r>
            <a:r>
              <a:rPr lang="zh-CN" altLang="en-US" dirty="0"/>
              <a:t>个数据，两个类别，三十个特征。</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这里的</a:t>
            </a:r>
            <a:r>
              <a:rPr lang="en-US" altLang="zh-CN" dirty="0">
                <a:latin typeface="Times New Roman" panose="02020603050405020304" pitchFamily="18" charset="0"/>
                <a:ea typeface="黑体" panose="02010609060101010101" pitchFamily="49" charset="-122"/>
                <a:cs typeface="Times New Roman" panose="02020603050405020304" pitchFamily="18" charset="0"/>
              </a:rPr>
              <a:t>Breast Cancer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数据集是我个人单独做的。</a:t>
            </a:r>
            <a:endParaRPr lang="zh-CN" altLang="en-US" dirty="0"/>
          </a:p>
        </p:txBody>
      </p:sp>
      <p:sp>
        <p:nvSpPr>
          <p:cNvPr id="4" name="灯片编号占位符 3"/>
          <p:cNvSpPr>
            <a:spLocks noGrp="1"/>
          </p:cNvSpPr>
          <p:nvPr>
            <p:ph type="sldNum" sz="quarter" idx="5"/>
          </p:nvPr>
        </p:nvSpPr>
        <p:spPr/>
        <p:txBody>
          <a:bodyPr/>
          <a:lstStyle/>
          <a:p>
            <a:fld id="{9137C4C7-AC49-45BB-B1B1-0675CFA8CC36}" type="slidenum">
              <a:rPr lang="zh-CN" altLang="en-US" smtClean="0"/>
              <a:t>12</a:t>
            </a:fld>
            <a:endParaRPr lang="zh-CN" altLang="en-US"/>
          </a:p>
        </p:txBody>
      </p:sp>
    </p:spTree>
    <p:extLst>
      <p:ext uri="{BB962C8B-B14F-4D97-AF65-F5344CB8AC3E}">
        <p14:creationId xmlns:p14="http://schemas.microsoft.com/office/powerpoint/2010/main" val="27786621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首先是</a:t>
            </a:r>
            <a:r>
              <a:rPr lang="en-US" altLang="zh-CN" dirty="0"/>
              <a:t>NOA</a:t>
            </a:r>
            <a:r>
              <a:rPr lang="zh-CN" altLang="en-US" dirty="0"/>
              <a:t>算法的实现效果。我们在</a:t>
            </a:r>
            <a:r>
              <a:rPr lang="en-US" altLang="zh-CN" dirty="0"/>
              <a:t>30</a:t>
            </a:r>
            <a:r>
              <a:rPr lang="zh-CN" altLang="en-US" dirty="0"/>
              <a:t>维的</a:t>
            </a:r>
            <a:r>
              <a:rPr lang="en-US" altLang="zh-CN" dirty="0" err="1"/>
              <a:t>rastrigin</a:t>
            </a:r>
            <a:r>
              <a:rPr lang="en-US" altLang="zh-CN" dirty="0"/>
              <a:t> (</a:t>
            </a:r>
            <a:r>
              <a:rPr lang="zh-CN" altLang="en-US" b="0" i="0" dirty="0">
                <a:solidFill>
                  <a:srgbClr val="111111"/>
                </a:solidFill>
                <a:effectLst/>
                <a:latin typeface="Arial" panose="020B0604020202020204" pitchFamily="34" charset="0"/>
              </a:rPr>
              <a:t>拉斯特里金</a:t>
            </a:r>
            <a:r>
              <a:rPr lang="en-US" altLang="zh-CN" dirty="0"/>
              <a:t>) </a:t>
            </a:r>
            <a:r>
              <a:rPr lang="zh-CN" altLang="en-US" dirty="0"/>
              <a:t>函数上对其进行了测试，结果显示我们很好的实现了</a:t>
            </a:r>
            <a:r>
              <a:rPr lang="en-US" altLang="zh-CN" dirty="0"/>
              <a:t>NOA</a:t>
            </a:r>
            <a:r>
              <a:rPr lang="zh-CN" altLang="en-US" dirty="0"/>
              <a:t>算法。</a:t>
            </a:r>
          </a:p>
          <a:p>
            <a:endParaRPr lang="zh-CN" altLang="en-US" dirty="0"/>
          </a:p>
        </p:txBody>
      </p:sp>
      <p:sp>
        <p:nvSpPr>
          <p:cNvPr id="4" name="灯片编号占位符 3"/>
          <p:cNvSpPr>
            <a:spLocks noGrp="1"/>
          </p:cNvSpPr>
          <p:nvPr>
            <p:ph type="sldNum" sz="quarter" idx="5"/>
          </p:nvPr>
        </p:nvSpPr>
        <p:spPr/>
        <p:txBody>
          <a:bodyPr/>
          <a:lstStyle/>
          <a:p>
            <a:fld id="{9137C4C7-AC49-45BB-B1B1-0675CFA8CC36}" type="slidenum">
              <a:rPr lang="zh-CN" altLang="en-US" smtClean="0"/>
              <a:t>13</a:t>
            </a:fld>
            <a:endParaRPr lang="zh-CN" altLang="en-US"/>
          </a:p>
        </p:txBody>
      </p:sp>
    </p:spTree>
    <p:extLst>
      <p:ext uri="{BB962C8B-B14F-4D97-AF65-F5344CB8AC3E}">
        <p14:creationId xmlns:p14="http://schemas.microsoft.com/office/powerpoint/2010/main" val="12254999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首先是在</a:t>
            </a:r>
            <a:r>
              <a:rPr lang="en-US" altLang="zh-CN" dirty="0"/>
              <a:t>Iris</a:t>
            </a:r>
            <a:r>
              <a:rPr lang="zh-CN" altLang="en-US" dirty="0"/>
              <a:t>测试集上的结果。</a:t>
            </a:r>
            <a:endParaRPr lang="en-US" altLang="zh-CN" dirty="0"/>
          </a:p>
          <a:p>
            <a:r>
              <a:rPr lang="zh-CN" altLang="en-US" dirty="0"/>
              <a:t>这里蓝色底纹代表在某一项指标上取得了最佳。</a:t>
            </a:r>
            <a:endParaRPr lang="en-US" altLang="zh-CN" dirty="0"/>
          </a:p>
          <a:p>
            <a:r>
              <a:rPr lang="zh-CN" altLang="en-US" dirty="0"/>
              <a:t>可以看出</a:t>
            </a:r>
            <a:r>
              <a:rPr lang="en-US" altLang="zh-CN" dirty="0"/>
              <a:t>NOA-</a:t>
            </a:r>
            <a:r>
              <a:rPr lang="en-US" altLang="zh-CN" dirty="0" err="1"/>
              <a:t>SVM</a:t>
            </a:r>
            <a:r>
              <a:rPr lang="zh-CN" altLang="en-US" dirty="0"/>
              <a:t>的效果明显好于对比算法。</a:t>
            </a:r>
            <a:endParaRPr lang="en-US" altLang="zh-CN" dirty="0"/>
          </a:p>
          <a:p>
            <a:r>
              <a:rPr lang="zh-CN" altLang="en-US" dirty="0"/>
              <a:t>进一步的，我对结果进行了</a:t>
            </a:r>
            <a:r>
              <a:rPr lang="en-US" altLang="zh-CN" sz="1200" dirty="0">
                <a:latin typeface="Times New Roman" panose="02020603050405020304" pitchFamily="18" charset="0"/>
                <a:ea typeface="黑体" panose="02010609060101010101" pitchFamily="49" charset="-122"/>
                <a:cs typeface="Times New Roman" panose="02020603050405020304" pitchFamily="18" charset="0"/>
              </a:rPr>
              <a:t>Wilcoxon (</a:t>
            </a:r>
            <a:r>
              <a:rPr lang="zh-CN" altLang="en-US" b="0" i="0" dirty="0">
                <a:solidFill>
                  <a:srgbClr val="111111"/>
                </a:solidFill>
                <a:effectLst/>
              </a:rPr>
              <a:t>威尔科森</a:t>
            </a:r>
            <a:r>
              <a:rPr lang="en-US" altLang="zh-CN" sz="12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1200" dirty="0">
                <a:latin typeface="Times New Roman" panose="02020603050405020304" pitchFamily="18" charset="0"/>
                <a:ea typeface="黑体" panose="02010609060101010101" pitchFamily="49" charset="-122"/>
                <a:cs typeface="Times New Roman" panose="02020603050405020304" pitchFamily="18" charset="0"/>
              </a:rPr>
              <a:t>秩和检验，结果显示在</a:t>
            </a:r>
            <a:r>
              <a:rPr lang="en-US" altLang="zh-CN" sz="1200" dirty="0">
                <a:latin typeface="Times New Roman" panose="02020603050405020304" pitchFamily="18" charset="0"/>
                <a:ea typeface="黑体" panose="02010609060101010101" pitchFamily="49" charset="-122"/>
                <a:cs typeface="Times New Roman" panose="02020603050405020304" pitchFamily="18" charset="0"/>
              </a:rPr>
              <a:t>0.05</a:t>
            </a:r>
            <a:r>
              <a:rPr lang="zh-CN" altLang="en-US" sz="1200" dirty="0">
                <a:latin typeface="Times New Roman" panose="02020603050405020304" pitchFamily="18" charset="0"/>
                <a:ea typeface="黑体" panose="02010609060101010101" pitchFamily="49" charset="-122"/>
                <a:cs typeface="Times New Roman" panose="02020603050405020304" pitchFamily="18" charset="0"/>
              </a:rPr>
              <a:t>的显著性下</a:t>
            </a:r>
            <a:r>
              <a:rPr lang="en-US" altLang="zh-CN" sz="1200" dirty="0">
                <a:latin typeface="Times New Roman" panose="02020603050405020304" pitchFamily="18" charset="0"/>
                <a:ea typeface="黑体" panose="02010609060101010101" pitchFamily="49" charset="-122"/>
                <a:cs typeface="Times New Roman" panose="02020603050405020304" pitchFamily="18" charset="0"/>
              </a:rPr>
              <a:t>NOA-</a:t>
            </a:r>
            <a:r>
              <a:rPr lang="en-US" altLang="zh-CN" sz="1200" dirty="0" err="1">
                <a:latin typeface="Times New Roman" panose="02020603050405020304" pitchFamily="18" charset="0"/>
                <a:ea typeface="黑体" panose="02010609060101010101" pitchFamily="49" charset="-122"/>
                <a:cs typeface="Times New Roman" panose="02020603050405020304" pitchFamily="18" charset="0"/>
              </a:rPr>
              <a:t>SVM</a:t>
            </a:r>
            <a:r>
              <a:rPr lang="zh-CN" altLang="en-US" sz="1200" dirty="0">
                <a:latin typeface="Times New Roman" panose="02020603050405020304" pitchFamily="18" charset="0"/>
                <a:ea typeface="黑体" panose="02010609060101010101" pitchFamily="49" charset="-122"/>
                <a:cs typeface="Times New Roman" panose="02020603050405020304" pitchFamily="18" charset="0"/>
              </a:rPr>
              <a:t>确实好于对比算法。</a:t>
            </a:r>
            <a:endParaRPr lang="zh-CN" altLang="en-US" dirty="0"/>
          </a:p>
        </p:txBody>
      </p:sp>
      <p:sp>
        <p:nvSpPr>
          <p:cNvPr id="4" name="灯片编号占位符 3"/>
          <p:cNvSpPr>
            <a:spLocks noGrp="1"/>
          </p:cNvSpPr>
          <p:nvPr>
            <p:ph type="sldNum" sz="quarter" idx="5"/>
          </p:nvPr>
        </p:nvSpPr>
        <p:spPr/>
        <p:txBody>
          <a:bodyPr/>
          <a:lstStyle/>
          <a:p>
            <a:fld id="{9137C4C7-AC49-45BB-B1B1-0675CFA8CC36}" type="slidenum">
              <a:rPr lang="zh-CN" altLang="en-US" smtClean="0"/>
              <a:t>14</a:t>
            </a:fld>
            <a:endParaRPr lang="zh-CN" altLang="en-US"/>
          </a:p>
        </p:txBody>
      </p:sp>
    </p:spTree>
    <p:extLst>
      <p:ext uri="{BB962C8B-B14F-4D97-AF65-F5344CB8AC3E}">
        <p14:creationId xmlns:p14="http://schemas.microsoft.com/office/powerpoint/2010/main" val="10870073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从混淆矩阵来看，对</a:t>
            </a:r>
            <a:r>
              <a:rPr lang="en-US" altLang="zh-CN" sz="1200" dirty="0" err="1">
                <a:latin typeface="Times New Roman" panose="02020603050405020304" pitchFamily="18" charset="0"/>
                <a:ea typeface="黑体" panose="02010609060101010101" pitchFamily="49" charset="-122"/>
                <a:cs typeface="Times New Roman" panose="02020603050405020304" pitchFamily="18" charset="0"/>
              </a:rPr>
              <a:t>Setosa</a:t>
            </a:r>
            <a:r>
              <a:rPr lang="zh-CN" altLang="en-US" sz="1200" dirty="0">
                <a:latin typeface="Times New Roman" panose="02020603050405020304" pitchFamily="18" charset="0"/>
                <a:ea typeface="黑体" panose="02010609060101010101" pitchFamily="49" charset="-122"/>
                <a:cs typeface="Times New Roman" panose="02020603050405020304" pitchFamily="18" charset="0"/>
              </a:rPr>
              <a:t>没有发生任何错误分类，而对于</a:t>
            </a:r>
            <a:r>
              <a:rPr lang="en-US" altLang="zh-CN" sz="1200" dirty="0" err="1">
                <a:latin typeface="Times New Roman" panose="02020603050405020304" pitchFamily="18" charset="0"/>
                <a:ea typeface="黑体" panose="02010609060101010101" pitchFamily="49" charset="-122"/>
                <a:cs typeface="Times New Roman" panose="02020603050405020304" pitchFamily="18" charset="0"/>
              </a:rPr>
              <a:t>Versicolour</a:t>
            </a:r>
            <a:r>
              <a:rPr lang="zh-CN" altLang="en-US" sz="1200"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1200" dirty="0">
                <a:latin typeface="Times New Roman" panose="02020603050405020304" pitchFamily="18" charset="0"/>
                <a:ea typeface="黑体" panose="02010609060101010101" pitchFamily="49" charset="-122"/>
                <a:cs typeface="Times New Roman" panose="02020603050405020304" pitchFamily="18" charset="0"/>
              </a:rPr>
              <a:t>Virginica</a:t>
            </a:r>
            <a:r>
              <a:rPr lang="zh-CN" altLang="en-US" sz="1200" dirty="0">
                <a:latin typeface="Times New Roman" panose="02020603050405020304" pitchFamily="18" charset="0"/>
                <a:ea typeface="黑体" panose="02010609060101010101" pitchFamily="49" charset="-122"/>
                <a:cs typeface="Times New Roman" panose="02020603050405020304" pitchFamily="18" charset="0"/>
              </a:rPr>
              <a:t>偶尔会出现混淆。</a:t>
            </a:r>
            <a:endParaRPr lang="en-US" altLang="zh-CN" sz="1200" dirty="0">
              <a:latin typeface="Times New Roman" panose="02020603050405020304" pitchFamily="18"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通过</a:t>
            </a:r>
            <a:r>
              <a:rPr lang="zh-CN" altLang="en-US" sz="1200" dirty="0">
                <a:latin typeface="Times New Roman" panose="02020603050405020304" pitchFamily="18" charset="0"/>
                <a:ea typeface="黑体" panose="02010609060101010101" pitchFamily="49" charset="-122"/>
                <a:cs typeface="Times New Roman" panose="02020603050405020304" pitchFamily="18" charset="0"/>
              </a:rPr>
              <a:t>查阅资料可知，</a:t>
            </a:r>
            <a:r>
              <a:rPr lang="en-US" altLang="zh-CN" sz="12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1200" dirty="0" err="1">
                <a:latin typeface="Times New Roman" panose="02020603050405020304" pitchFamily="18" charset="0"/>
                <a:ea typeface="黑体" panose="02010609060101010101" pitchFamily="49" charset="-122"/>
                <a:cs typeface="Times New Roman" panose="02020603050405020304" pitchFamily="18" charset="0"/>
              </a:rPr>
              <a:t>Setosa</a:t>
            </a:r>
            <a:r>
              <a:rPr lang="zh-CN" altLang="en-US" sz="1200" dirty="0">
                <a:latin typeface="Times New Roman" panose="02020603050405020304" pitchFamily="18" charset="0"/>
                <a:ea typeface="黑体" panose="02010609060101010101" pitchFamily="49" charset="-122"/>
                <a:cs typeface="Times New Roman" panose="02020603050405020304" pitchFamily="18" charset="0"/>
              </a:rPr>
              <a:t>与其他两种之间可以通过线性方法轻易的进行区分，而剩下两者则较难区分。这与我们得到的结果相吻合。</a:t>
            </a:r>
          </a:p>
          <a:p>
            <a:endParaRPr lang="zh-CN" altLang="en-US" dirty="0"/>
          </a:p>
        </p:txBody>
      </p:sp>
      <p:sp>
        <p:nvSpPr>
          <p:cNvPr id="4" name="灯片编号占位符 3"/>
          <p:cNvSpPr>
            <a:spLocks noGrp="1"/>
          </p:cNvSpPr>
          <p:nvPr>
            <p:ph type="sldNum" sz="quarter" idx="5"/>
          </p:nvPr>
        </p:nvSpPr>
        <p:spPr/>
        <p:txBody>
          <a:bodyPr/>
          <a:lstStyle/>
          <a:p>
            <a:fld id="{9137C4C7-AC49-45BB-B1B1-0675CFA8CC36}" type="slidenum">
              <a:rPr lang="zh-CN" altLang="en-US" smtClean="0"/>
              <a:t>15</a:t>
            </a:fld>
            <a:endParaRPr lang="zh-CN" altLang="en-US"/>
          </a:p>
        </p:txBody>
      </p:sp>
    </p:spTree>
    <p:extLst>
      <p:ext uri="{BB962C8B-B14F-4D97-AF65-F5344CB8AC3E}">
        <p14:creationId xmlns:p14="http://schemas.microsoft.com/office/powerpoint/2010/main" val="24364945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接下来，我们在</a:t>
            </a:r>
            <a:r>
              <a:rPr lang="en-US" altLang="zh-CN" sz="1200" dirty="0">
                <a:latin typeface="Times New Roman" panose="02020603050405020304" pitchFamily="18" charset="0"/>
                <a:ea typeface="黑体" panose="02010609060101010101" pitchFamily="49" charset="-122"/>
                <a:cs typeface="Times New Roman" panose="02020603050405020304" pitchFamily="18" charset="0"/>
              </a:rPr>
              <a:t>Breast Cancer</a:t>
            </a:r>
            <a:r>
              <a:rPr lang="zh-CN" altLang="en-US" sz="1200" dirty="0">
                <a:latin typeface="Times New Roman" panose="02020603050405020304" pitchFamily="18" charset="0"/>
                <a:ea typeface="黑体" panose="02010609060101010101" pitchFamily="49" charset="-122"/>
                <a:cs typeface="Times New Roman" panose="02020603050405020304" pitchFamily="18" charset="0"/>
              </a:rPr>
              <a:t>测试集上也进行了同样的实验。这是实验结果的箱线图。从图中我们可以看出采用了</a:t>
            </a:r>
            <a:r>
              <a:rPr lang="en-US" altLang="zh-CN" sz="1200" dirty="0">
                <a:latin typeface="Times New Roman" panose="02020603050405020304" pitchFamily="18" charset="0"/>
                <a:ea typeface="黑体" panose="02010609060101010101" pitchFamily="49" charset="-122"/>
                <a:cs typeface="Times New Roman" panose="02020603050405020304" pitchFamily="18" charset="0"/>
              </a:rPr>
              <a:t>NOA</a:t>
            </a:r>
            <a:r>
              <a:rPr lang="zh-CN" altLang="en-US" sz="1200" dirty="0">
                <a:latin typeface="Times New Roman" panose="02020603050405020304" pitchFamily="18" charset="0"/>
                <a:ea typeface="黑体" panose="02010609060101010101" pitchFamily="49" charset="-122"/>
                <a:cs typeface="Times New Roman" panose="02020603050405020304" pitchFamily="18" charset="0"/>
              </a:rPr>
              <a:t>优化后的</a:t>
            </a:r>
            <a:r>
              <a:rPr lang="en-US" altLang="zh-CN" sz="1200" dirty="0" err="1">
                <a:latin typeface="Times New Roman" panose="02020603050405020304" pitchFamily="18" charset="0"/>
                <a:ea typeface="黑体" panose="02010609060101010101" pitchFamily="49" charset="-122"/>
                <a:cs typeface="Times New Roman" panose="02020603050405020304" pitchFamily="18" charset="0"/>
              </a:rPr>
              <a:t>SVM</a:t>
            </a:r>
            <a:r>
              <a:rPr lang="zh-CN" altLang="en-US" sz="1200" dirty="0">
                <a:latin typeface="Times New Roman" panose="02020603050405020304" pitchFamily="18" charset="0"/>
                <a:ea typeface="黑体" panose="02010609060101010101" pitchFamily="49" charset="-122"/>
                <a:cs typeface="Times New Roman" panose="02020603050405020304" pitchFamily="18" charset="0"/>
              </a:rPr>
              <a:t>的表现不仅好，而且稳定。说明其波动性小，鲁棒性更强。</a:t>
            </a:r>
            <a:endParaRPr lang="zh-CN" altLang="en-US" dirty="0"/>
          </a:p>
        </p:txBody>
      </p:sp>
      <p:sp>
        <p:nvSpPr>
          <p:cNvPr id="4" name="灯片编号占位符 3"/>
          <p:cNvSpPr>
            <a:spLocks noGrp="1"/>
          </p:cNvSpPr>
          <p:nvPr>
            <p:ph type="sldNum" sz="quarter" idx="5"/>
          </p:nvPr>
        </p:nvSpPr>
        <p:spPr/>
        <p:txBody>
          <a:bodyPr/>
          <a:lstStyle/>
          <a:p>
            <a:fld id="{9137C4C7-AC49-45BB-B1B1-0675CFA8CC36}" type="slidenum">
              <a:rPr lang="zh-CN" altLang="en-US" smtClean="0"/>
              <a:t>16</a:t>
            </a:fld>
            <a:endParaRPr lang="zh-CN" altLang="en-US"/>
          </a:p>
        </p:txBody>
      </p:sp>
    </p:spTree>
    <p:extLst>
      <p:ext uri="{BB962C8B-B14F-4D97-AF65-F5344CB8AC3E}">
        <p14:creationId xmlns:p14="http://schemas.microsoft.com/office/powerpoint/2010/main" val="6998911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进一步的，我们绘制了</a:t>
            </a:r>
            <a:r>
              <a:rPr lang="en-US" altLang="zh-CN" dirty="0"/>
              <a:t>ROC</a:t>
            </a:r>
            <a:r>
              <a:rPr lang="zh-CN" altLang="en-US" dirty="0"/>
              <a:t>曲线。可以看出</a:t>
            </a:r>
            <a:r>
              <a:rPr lang="en-US" altLang="zh-CN" sz="1200" dirty="0">
                <a:latin typeface="Times New Roman" panose="02020603050405020304" pitchFamily="18" charset="0"/>
                <a:ea typeface="黑体" panose="02010609060101010101" pitchFamily="49" charset="-122"/>
                <a:cs typeface="Times New Roman" panose="02020603050405020304" pitchFamily="18" charset="0"/>
              </a:rPr>
              <a:t>NOA-</a:t>
            </a:r>
            <a:r>
              <a:rPr lang="en-US" altLang="zh-CN" sz="1200" dirty="0" err="1">
                <a:latin typeface="Times New Roman" panose="02020603050405020304" pitchFamily="18" charset="0"/>
                <a:ea typeface="黑体" panose="02010609060101010101" pitchFamily="49" charset="-122"/>
                <a:cs typeface="Times New Roman" panose="02020603050405020304" pitchFamily="18" charset="0"/>
              </a:rPr>
              <a:t>SVM</a:t>
            </a:r>
            <a:r>
              <a:rPr lang="zh-CN" altLang="en-US" sz="1200" dirty="0">
                <a:latin typeface="Times New Roman" panose="02020603050405020304" pitchFamily="18" charset="0"/>
                <a:ea typeface="黑体" panose="02010609060101010101" pitchFamily="49" charset="-122"/>
                <a:cs typeface="Times New Roman" panose="02020603050405020304" pitchFamily="18" charset="0"/>
              </a:rPr>
              <a:t>更加靠近左上角，可以断定</a:t>
            </a:r>
            <a:r>
              <a:rPr lang="en-US" altLang="zh-CN" sz="1200" dirty="0">
                <a:latin typeface="Times New Roman" panose="02020603050405020304" pitchFamily="18" charset="0"/>
                <a:ea typeface="黑体" panose="02010609060101010101" pitchFamily="49" charset="-122"/>
                <a:cs typeface="Times New Roman" panose="02020603050405020304" pitchFamily="18" charset="0"/>
              </a:rPr>
              <a:t>NOA-</a:t>
            </a:r>
            <a:r>
              <a:rPr lang="en-US" altLang="zh-CN" sz="1200" dirty="0" err="1">
                <a:latin typeface="Times New Roman" panose="02020603050405020304" pitchFamily="18" charset="0"/>
                <a:ea typeface="黑体" panose="02010609060101010101" pitchFamily="49" charset="-122"/>
                <a:cs typeface="Times New Roman" panose="02020603050405020304" pitchFamily="18" charset="0"/>
              </a:rPr>
              <a:t>SVM</a:t>
            </a:r>
            <a:r>
              <a:rPr lang="zh-CN" altLang="en-US" sz="1200" dirty="0">
                <a:latin typeface="Times New Roman" panose="02020603050405020304" pitchFamily="18" charset="0"/>
                <a:ea typeface="黑体" panose="02010609060101010101" pitchFamily="49" charset="-122"/>
                <a:cs typeface="Times New Roman" panose="02020603050405020304" pitchFamily="18" charset="0"/>
              </a:rPr>
              <a:t>获得的效果更好。</a:t>
            </a:r>
            <a:endParaRPr lang="zh-CN" altLang="en-US" dirty="0"/>
          </a:p>
        </p:txBody>
      </p:sp>
      <p:sp>
        <p:nvSpPr>
          <p:cNvPr id="4" name="灯片编号占位符 3"/>
          <p:cNvSpPr>
            <a:spLocks noGrp="1"/>
          </p:cNvSpPr>
          <p:nvPr>
            <p:ph type="sldNum" sz="quarter" idx="5"/>
          </p:nvPr>
        </p:nvSpPr>
        <p:spPr/>
        <p:txBody>
          <a:bodyPr/>
          <a:lstStyle/>
          <a:p>
            <a:fld id="{9137C4C7-AC49-45BB-B1B1-0675CFA8CC36}" type="slidenum">
              <a:rPr lang="zh-CN" altLang="en-US" smtClean="0"/>
              <a:t>17</a:t>
            </a:fld>
            <a:endParaRPr lang="zh-CN" altLang="en-US"/>
          </a:p>
        </p:txBody>
      </p:sp>
    </p:spTree>
    <p:extLst>
      <p:ext uri="{BB962C8B-B14F-4D97-AF65-F5344CB8AC3E}">
        <p14:creationId xmlns:p14="http://schemas.microsoft.com/office/powerpoint/2010/main" val="36545133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zh-CN" altLang="en-US"/>
              <a:t>单击此处编辑母版标题样式</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A0B17506-3D18-43C0-B35D-C575A9E0D116}" type="datetimeFigureOut">
              <a:rPr lang="zh-CN" altLang="en-US" smtClean="0"/>
              <a:t>2025/12/14</a:t>
            </a:fld>
            <a:endParaRPr lang="zh-CN" altLang="en-US"/>
          </a:p>
        </p:txBody>
      </p:sp>
      <p:sp>
        <p:nvSpPr>
          <p:cNvPr id="5" name="Footer Placeholder 4"/>
          <p:cNvSpPr>
            <a:spLocks noGrp="1"/>
          </p:cNvSpPr>
          <p:nvPr>
            <p:ph type="ftr" sz="quarter" idx="11"/>
          </p:nvPr>
        </p:nvSpPr>
        <p:spPr>
          <a:xfrm>
            <a:off x="1876424" y="5410201"/>
            <a:ext cx="5124886" cy="365125"/>
          </a:xfrm>
        </p:spPr>
        <p:txBody>
          <a:bodyPr/>
          <a:lstStyle/>
          <a:p>
            <a:endParaRPr lang="zh-CN" altLang="en-US"/>
          </a:p>
        </p:txBody>
      </p:sp>
      <p:sp>
        <p:nvSpPr>
          <p:cNvPr id="6" name="Slide Number Placeholder 5"/>
          <p:cNvSpPr>
            <a:spLocks noGrp="1"/>
          </p:cNvSpPr>
          <p:nvPr>
            <p:ph type="sldNum" sz="quarter" idx="12"/>
          </p:nvPr>
        </p:nvSpPr>
        <p:spPr>
          <a:xfrm>
            <a:off x="9896911" y="5410199"/>
            <a:ext cx="771089" cy="365125"/>
          </a:xfrm>
        </p:spPr>
        <p:txBody>
          <a:bodyPr/>
          <a:lstStyle/>
          <a:p>
            <a:fld id="{04478182-5E0E-4587-8445-81454B5CCCF7}" type="slidenum">
              <a:rPr lang="zh-CN" altLang="en-US" smtClean="0"/>
              <a:t>‹#›</a:t>
            </a:fld>
            <a:endParaRPr lang="zh-CN" altLang="en-US"/>
          </a:p>
        </p:txBody>
      </p:sp>
    </p:spTree>
    <p:extLst>
      <p:ext uri="{BB962C8B-B14F-4D97-AF65-F5344CB8AC3E}">
        <p14:creationId xmlns:p14="http://schemas.microsoft.com/office/powerpoint/2010/main" val="1830499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A0B17506-3D18-43C0-B35D-C575A9E0D116}" type="datetimeFigureOut">
              <a:rPr lang="zh-CN" altLang="en-US" smtClean="0"/>
              <a:t>2025/12/14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4478182-5E0E-4587-8445-81454B5CCCF7}" type="slidenum">
              <a:rPr lang="zh-CN" altLang="en-US" smtClean="0"/>
              <a:t>‹#›</a:t>
            </a:fld>
            <a:endParaRPr lang="zh-CN" altLang="en-US"/>
          </a:p>
        </p:txBody>
      </p:sp>
    </p:spTree>
    <p:extLst>
      <p:ext uri="{BB962C8B-B14F-4D97-AF65-F5344CB8AC3E}">
        <p14:creationId xmlns:p14="http://schemas.microsoft.com/office/powerpoint/2010/main" val="1019898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zh-CN" altLang="en-US"/>
              <a:t>单击此处编辑母版标题样式</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0B17506-3D18-43C0-B35D-C575A9E0D116}" type="datetimeFigureOut">
              <a:rPr lang="zh-CN" altLang="en-US" smtClean="0"/>
              <a:t>2025/12/14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4478182-5E0E-4587-8445-81454B5CCCF7}" type="slidenum">
              <a:rPr lang="zh-CN" altLang="en-US" smtClean="0"/>
              <a:t>‹#›</a:t>
            </a:fld>
            <a:endParaRPr lang="zh-CN" altLang="en-US"/>
          </a:p>
        </p:txBody>
      </p:sp>
    </p:spTree>
    <p:extLst>
      <p:ext uri="{BB962C8B-B14F-4D97-AF65-F5344CB8AC3E}">
        <p14:creationId xmlns:p14="http://schemas.microsoft.com/office/powerpoint/2010/main" val="1428678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A0B17506-3D18-43C0-B35D-C575A9E0D116}" type="datetimeFigureOut">
              <a:rPr lang="zh-CN" altLang="en-US" smtClean="0"/>
              <a:t>2025/12/14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4478182-5E0E-4587-8445-81454B5CCCF7}" type="slidenum">
              <a:rPr lang="zh-CN" altLang="en-US" smtClean="0"/>
              <a:t>‹#›</a:t>
            </a:fld>
            <a:endParaRPr lang="zh-CN" altLang="en-US"/>
          </a:p>
        </p:txBody>
      </p:sp>
    </p:spTree>
    <p:extLst>
      <p:ext uri="{BB962C8B-B14F-4D97-AF65-F5344CB8AC3E}">
        <p14:creationId xmlns:p14="http://schemas.microsoft.com/office/powerpoint/2010/main" val="1975500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141410" y="3073397"/>
            <a:ext cx="4878391" cy="271780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3073397"/>
            <a:ext cx="4875210" cy="271780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A0B17506-3D18-43C0-B35D-C575A9E0D116}" type="datetimeFigureOut">
              <a:rPr lang="zh-CN" altLang="en-US" smtClean="0"/>
              <a:t>2025/12/14</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4478182-5E0E-4587-8445-81454B5CCCF7}" type="slidenum">
              <a:rPr lang="zh-CN" altLang="en-US" smtClean="0"/>
              <a:t>‹#›</a:t>
            </a:fld>
            <a:endParaRPr lang="zh-CN" altLang="en-US"/>
          </a:p>
        </p:txBody>
      </p:sp>
    </p:spTree>
    <p:extLst>
      <p:ext uri="{BB962C8B-B14F-4D97-AF65-F5344CB8AC3E}">
        <p14:creationId xmlns:p14="http://schemas.microsoft.com/office/powerpoint/2010/main" val="6062787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0B17506-3D18-43C0-B35D-C575A9E0D116}" type="datetimeFigureOut">
              <a:rPr lang="zh-CN" altLang="en-US" smtClean="0"/>
              <a:t>2025/12/14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4478182-5E0E-4587-8445-81454B5CCCF7}" type="slidenum">
              <a:rPr lang="zh-CN" altLang="en-US" smtClean="0"/>
              <a:t>‹#›</a:t>
            </a:fld>
            <a:endParaRPr lang="zh-CN" altLang="en-US"/>
          </a:p>
        </p:txBody>
      </p:sp>
    </p:spTree>
    <p:extLst>
      <p:ext uri="{BB962C8B-B14F-4D97-AF65-F5344CB8AC3E}">
        <p14:creationId xmlns:p14="http://schemas.microsoft.com/office/powerpoint/2010/main" val="1659178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B17506-3D18-43C0-B35D-C575A9E0D116}" type="datetimeFigureOut">
              <a:rPr lang="zh-CN" altLang="en-US" smtClean="0"/>
              <a:t>2025/12/14</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4478182-5E0E-4587-8445-81454B5CCCF7}" type="slidenum">
              <a:rPr lang="zh-CN" altLang="en-US" smtClean="0"/>
              <a:t>‹#›</a:t>
            </a:fld>
            <a:endParaRPr lang="zh-CN" altLang="en-US"/>
          </a:p>
        </p:txBody>
      </p:sp>
    </p:spTree>
    <p:extLst>
      <p:ext uri="{BB962C8B-B14F-4D97-AF65-F5344CB8AC3E}">
        <p14:creationId xmlns:p14="http://schemas.microsoft.com/office/powerpoint/2010/main" val="2020637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A0B17506-3D18-43C0-B35D-C575A9E0D116}" type="datetimeFigureOut">
              <a:rPr lang="zh-CN" altLang="en-US" smtClean="0"/>
              <a:t>2025/12/14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4478182-5E0E-4587-8445-81454B5CCCF7}" type="slidenum">
              <a:rPr lang="zh-CN" altLang="en-US" smtClean="0"/>
              <a:t>‹#›</a:t>
            </a:fld>
            <a:endParaRPr lang="zh-CN" altLang="en-US"/>
          </a:p>
        </p:txBody>
      </p:sp>
    </p:spTree>
    <p:extLst>
      <p:ext uri="{BB962C8B-B14F-4D97-AF65-F5344CB8AC3E}">
        <p14:creationId xmlns:p14="http://schemas.microsoft.com/office/powerpoint/2010/main" val="3014423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A0B17506-3D18-43C0-B35D-C575A9E0D116}" type="datetimeFigureOut">
              <a:rPr lang="zh-CN" altLang="en-US" smtClean="0"/>
              <a:t>2025/12/14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4478182-5E0E-4587-8445-81454B5CCCF7}" type="slidenum">
              <a:rPr lang="zh-CN" altLang="en-US" smtClean="0"/>
              <a:t>‹#›</a:t>
            </a:fld>
            <a:endParaRPr lang="zh-CN" altLang="en-US"/>
          </a:p>
        </p:txBody>
      </p:sp>
    </p:spTree>
    <p:extLst>
      <p:ext uri="{BB962C8B-B14F-4D97-AF65-F5344CB8AC3E}">
        <p14:creationId xmlns:p14="http://schemas.microsoft.com/office/powerpoint/2010/main" val="4205933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zh-CN" altLang="en-US"/>
              <a:t>单击图标添加图片</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A0B17506-3D18-43C0-B35D-C575A9E0D116}" type="datetimeFigureOut">
              <a:rPr lang="zh-CN" altLang="en-US" smtClean="0"/>
              <a:t>2025/12/14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4478182-5E0E-4587-8445-81454B5CCCF7}" type="slidenum">
              <a:rPr lang="zh-CN" altLang="en-US" smtClean="0"/>
              <a:t>‹#›</a:t>
            </a:fld>
            <a:endParaRPr lang="zh-CN" altLang="en-US"/>
          </a:p>
        </p:txBody>
      </p:sp>
    </p:spTree>
    <p:extLst>
      <p:ext uri="{BB962C8B-B14F-4D97-AF65-F5344CB8AC3E}">
        <p14:creationId xmlns:p14="http://schemas.microsoft.com/office/powerpoint/2010/main" val="851819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A0B17506-3D18-43C0-B35D-C575A9E0D116}" type="datetimeFigureOut">
              <a:rPr lang="zh-CN" altLang="en-US" smtClean="0"/>
              <a:t>2025/12/14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4478182-5E0E-4587-8445-81454B5CCCF7}" type="slidenum">
              <a:rPr lang="zh-CN" altLang="en-US" smtClean="0"/>
              <a:t>‹#›</a:t>
            </a:fld>
            <a:endParaRPr lang="zh-CN" altLang="en-US"/>
          </a:p>
        </p:txBody>
      </p:sp>
    </p:spTree>
    <p:extLst>
      <p:ext uri="{BB962C8B-B14F-4D97-AF65-F5344CB8AC3E}">
        <p14:creationId xmlns:p14="http://schemas.microsoft.com/office/powerpoint/2010/main" val="4118982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zh-CN" altLang="en-US"/>
              <a:t>单击此处编辑母版标题样式</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A0B17506-3D18-43C0-B35D-C575A9E0D116}" type="datetimeFigureOut">
              <a:rPr lang="zh-CN" altLang="en-US" smtClean="0"/>
              <a:t>2025/12/14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4478182-5E0E-4587-8445-81454B5CCCF7}" type="slidenum">
              <a:rPr lang="zh-CN" altLang="en-US" smtClean="0"/>
              <a:t>‹#›</a:t>
            </a:fld>
            <a:endParaRPr lang="zh-CN" alt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latin typeface="黑体" panose="02010609060101010101" pitchFamily="49" charset="-122"/>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latin typeface="黑体" panose="02010609060101010101" pitchFamily="49" charset="-122"/>
              </a:rPr>
              <a:t>”</a:t>
            </a:r>
          </a:p>
        </p:txBody>
      </p:sp>
    </p:spTree>
    <p:extLst>
      <p:ext uri="{BB962C8B-B14F-4D97-AF65-F5344CB8AC3E}">
        <p14:creationId xmlns:p14="http://schemas.microsoft.com/office/powerpoint/2010/main" val="3661625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A0B17506-3D18-43C0-B35D-C575A9E0D116}" type="datetimeFigureOut">
              <a:rPr lang="zh-CN" altLang="en-US" smtClean="0"/>
              <a:t>2025/12/14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4478182-5E0E-4587-8445-81454B5CCCF7}" type="slidenum">
              <a:rPr lang="zh-CN" altLang="en-US" smtClean="0"/>
              <a:t>‹#›</a:t>
            </a:fld>
            <a:endParaRPr lang="zh-CN" altLang="en-US"/>
          </a:p>
        </p:txBody>
      </p:sp>
    </p:spTree>
    <p:extLst>
      <p:ext uri="{BB962C8B-B14F-4D97-AF65-F5344CB8AC3E}">
        <p14:creationId xmlns:p14="http://schemas.microsoft.com/office/powerpoint/2010/main" val="31046450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zh-CN" altLang="en-US"/>
              <a:t>单击此处编辑母版标题样式</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3" name="Date Placeholder 2"/>
          <p:cNvSpPr>
            <a:spLocks noGrp="1"/>
          </p:cNvSpPr>
          <p:nvPr>
            <p:ph type="dt" sz="half" idx="10"/>
          </p:nvPr>
        </p:nvSpPr>
        <p:spPr/>
        <p:txBody>
          <a:bodyPr/>
          <a:lstStyle/>
          <a:p>
            <a:fld id="{A0B17506-3D18-43C0-B35D-C575A9E0D116}" type="datetimeFigureOut">
              <a:rPr lang="zh-CN" altLang="en-US" smtClean="0"/>
              <a:t>2025/12/14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4478182-5E0E-4587-8445-81454B5CCCF7}" type="slidenum">
              <a:rPr lang="zh-CN" altLang="en-US" smtClean="0"/>
              <a:t>‹#›</a:t>
            </a:fld>
            <a:endParaRPr lang="zh-CN" altLang="en-US"/>
          </a:p>
        </p:txBody>
      </p:sp>
    </p:spTree>
    <p:extLst>
      <p:ext uri="{BB962C8B-B14F-4D97-AF65-F5344CB8AC3E}">
        <p14:creationId xmlns:p14="http://schemas.microsoft.com/office/powerpoint/2010/main" val="16092242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zh-CN" altLang="en-US"/>
              <a:t>单击此处编辑母版标题样式</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zh-CN" altLang="en-US"/>
              <a:t>单击图标添加图片</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zh-CN" altLang="en-US"/>
              <a:t>单击图标添加图片</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zh-CN" altLang="en-US"/>
              <a:t>单击图标添加图片</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3" name="Date Placeholder 2"/>
          <p:cNvSpPr>
            <a:spLocks noGrp="1"/>
          </p:cNvSpPr>
          <p:nvPr>
            <p:ph type="dt" sz="half" idx="10"/>
          </p:nvPr>
        </p:nvSpPr>
        <p:spPr/>
        <p:txBody>
          <a:bodyPr/>
          <a:lstStyle/>
          <a:p>
            <a:fld id="{A0B17506-3D18-43C0-B35D-C575A9E0D116}" type="datetimeFigureOut">
              <a:rPr lang="zh-CN" altLang="en-US" smtClean="0"/>
              <a:t>2025/12/14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4478182-5E0E-4587-8445-81454B5CCCF7}" type="slidenum">
              <a:rPr lang="zh-CN" altLang="en-US" smtClean="0"/>
              <a:t>‹#›</a:t>
            </a:fld>
            <a:endParaRPr lang="zh-CN" altLang="en-US"/>
          </a:p>
        </p:txBody>
      </p:sp>
    </p:spTree>
    <p:extLst>
      <p:ext uri="{BB962C8B-B14F-4D97-AF65-F5344CB8AC3E}">
        <p14:creationId xmlns:p14="http://schemas.microsoft.com/office/powerpoint/2010/main" val="34461511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A0B17506-3D18-43C0-B35D-C575A9E0D116}" type="datetimeFigureOut">
              <a:rPr lang="zh-CN" altLang="en-US" smtClean="0"/>
              <a:t>2025/12/14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4478182-5E0E-4587-8445-81454B5CCCF7}" type="slidenum">
              <a:rPr lang="zh-CN" altLang="en-US" smtClean="0"/>
              <a:t>‹#›</a:t>
            </a:fld>
            <a:endParaRPr lang="zh-CN" altLang="en-US"/>
          </a:p>
        </p:txBody>
      </p:sp>
    </p:spTree>
    <p:extLst>
      <p:ext uri="{BB962C8B-B14F-4D97-AF65-F5344CB8AC3E}">
        <p14:creationId xmlns:p14="http://schemas.microsoft.com/office/powerpoint/2010/main" val="20530749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A0B17506-3D18-43C0-B35D-C575A9E0D116}" type="datetimeFigureOut">
              <a:rPr lang="zh-CN" altLang="en-US" smtClean="0"/>
              <a:t>2025/12/14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4478182-5E0E-4587-8445-81454B5CCCF7}" type="slidenum">
              <a:rPr lang="zh-CN" altLang="en-US" smtClean="0"/>
              <a:t>‹#›</a:t>
            </a:fld>
            <a:endParaRPr lang="zh-CN" altLang="en-US"/>
          </a:p>
        </p:txBody>
      </p:sp>
    </p:spTree>
    <p:extLst>
      <p:ext uri="{BB962C8B-B14F-4D97-AF65-F5344CB8AC3E}">
        <p14:creationId xmlns:p14="http://schemas.microsoft.com/office/powerpoint/2010/main" val="1424114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zh-CN" alt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latin typeface="黑体" panose="02010609060101010101" pitchFamily="49" charset="-122"/>
              </a:defRPr>
            </a:lvl1pPr>
          </a:lstStyle>
          <a:p>
            <a:fld id="{A0B17506-3D18-43C0-B35D-C575A9E0D116}" type="datetimeFigureOut">
              <a:rPr lang="zh-CN" altLang="en-US" smtClean="0"/>
              <a:pPr/>
              <a:t>2025/12/14</a:t>
            </a:fld>
            <a:endParaRPr lang="zh-CN" alt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latin typeface="黑体" panose="02010609060101010101" pitchFamily="49" charset="-122"/>
              </a:defRPr>
            </a:lvl1pPr>
          </a:lstStyle>
          <a:p>
            <a:endParaRPr lang="zh-CN" alt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latin typeface="黑体" panose="02010609060101010101" pitchFamily="49" charset="-122"/>
              </a:defRPr>
            </a:lvl1pPr>
          </a:lstStyle>
          <a:p>
            <a:fld id="{04478182-5E0E-4587-8445-81454B5CCCF7}" type="slidenum">
              <a:rPr lang="zh-CN" altLang="en-US" smtClean="0"/>
              <a:pPr/>
              <a:t>‹#›</a:t>
            </a:fld>
            <a:endParaRPr lang="zh-CN" altLang="en-US" dirty="0"/>
          </a:p>
        </p:txBody>
      </p:sp>
    </p:spTree>
    <p:extLst>
      <p:ext uri="{BB962C8B-B14F-4D97-AF65-F5344CB8AC3E}">
        <p14:creationId xmlns:p14="http://schemas.microsoft.com/office/powerpoint/2010/main" val="3420024817"/>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黑体" panose="02010609060101010101" pitchFamily="49" charset="-122"/>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黑体" panose="02010609060101010101" pitchFamily="49" charset="-122"/>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黑体" panose="02010609060101010101" pitchFamily="49" charset="-122"/>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黑体" panose="02010609060101010101" pitchFamily="49" charset="-122"/>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黑体" panose="02010609060101010101" pitchFamily="49" charset="-122"/>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黑体" panose="02010609060101010101" pitchFamily="49" charset="-122"/>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1.w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15.emf"/><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4.wmf"/><Relationship Id="rId5" Type="http://schemas.openxmlformats.org/officeDocument/2006/relationships/oleObject" Target="../embeddings/oleObject2.bin"/><Relationship Id="rId4" Type="http://schemas.openxmlformats.org/officeDocument/2006/relationships/image" Target="../media/image11.wmf"/></Relationships>
</file>

<file path=ppt/slides/_rels/slide9.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9.wmf"/><Relationship Id="rId5" Type="http://schemas.openxmlformats.org/officeDocument/2006/relationships/oleObject" Target="../embeddings/oleObject4.bin"/><Relationship Id="rId4" Type="http://schemas.openxmlformats.org/officeDocument/2006/relationships/image" Target="../media/image18.wmf"/></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2.jp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10BEC8-5DF2-F87A-660E-A7FABA154718}"/>
              </a:ext>
            </a:extLst>
          </p:cNvPr>
          <p:cNvSpPr>
            <a:spLocks noGrp="1"/>
          </p:cNvSpPr>
          <p:nvPr>
            <p:ph type="ctrTitle"/>
          </p:nvPr>
        </p:nvSpPr>
        <p:spPr>
          <a:xfrm>
            <a:off x="547052" y="868362"/>
            <a:ext cx="11450318" cy="2387600"/>
          </a:xfrm>
        </p:spPr>
        <p:txBody>
          <a:bodyPr>
            <a:normAutofit/>
          </a:bodyPr>
          <a:lstStyle/>
          <a:p>
            <a:pPr algn="ctr"/>
            <a:r>
              <a:rPr lang="zh-CN" altLang="en-US" dirty="0"/>
              <a:t>基于启发式方法的机器学习算法的性能优化研究</a:t>
            </a:r>
            <a:endParaRPr lang="zh-CN" altLang="en-US" dirty="0">
              <a:ea typeface="黑体" panose="02010609060101010101" pitchFamily="49" charset="-122"/>
            </a:endParaRPr>
          </a:p>
        </p:txBody>
      </p:sp>
      <p:pic>
        <p:nvPicPr>
          <p:cNvPr id="1026" name="Picture 2" descr="南京信息工程大学校徽标志矢量图 - 设计之家">
            <a:extLst>
              <a:ext uri="{FF2B5EF4-FFF2-40B4-BE49-F238E27FC236}">
                <a16:creationId xmlns:a16="http://schemas.microsoft.com/office/drawing/2014/main" id="{FCCC33EF-0610-5F04-4385-8A4C019B478D}"/>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10610" t="37589" r="10235" b="38268"/>
          <a:stretch/>
        </p:blipFill>
        <p:spPr bwMode="auto">
          <a:xfrm>
            <a:off x="3993204" y="405334"/>
            <a:ext cx="4205592" cy="926056"/>
          </a:xfrm>
          <a:prstGeom prst="rect">
            <a:avLst/>
          </a:prstGeom>
          <a:noFill/>
          <a:extLst>
            <a:ext uri="{909E8E84-426E-40DD-AFC4-6F175D3DCCD1}">
              <a14:hiddenFill xmlns:a14="http://schemas.microsoft.com/office/drawing/2010/main">
                <a:solidFill>
                  <a:srgbClr val="FFFFFF"/>
                </a:solidFill>
              </a14:hiddenFill>
            </a:ext>
          </a:extLst>
        </p:spPr>
      </p:pic>
      <p:sp>
        <p:nvSpPr>
          <p:cNvPr id="5" name="副标题 4">
            <a:extLst>
              <a:ext uri="{FF2B5EF4-FFF2-40B4-BE49-F238E27FC236}">
                <a16:creationId xmlns:a16="http://schemas.microsoft.com/office/drawing/2014/main" id="{9444EB94-5297-B3EE-2291-1C117B181CC1}"/>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37846755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5A8773-BADE-27A1-0681-BFDDB7827DE2}"/>
              </a:ext>
            </a:extLst>
          </p:cNvPr>
          <p:cNvSpPr>
            <a:spLocks noGrp="1"/>
          </p:cNvSpPr>
          <p:nvPr>
            <p:ph type="title"/>
          </p:nvPr>
        </p:nvSpPr>
        <p:spPr>
          <a:xfrm>
            <a:off x="1083734" y="17385"/>
            <a:ext cx="9905998" cy="1478570"/>
          </a:xfrm>
        </p:spPr>
        <p:txBody>
          <a:bodyPr/>
          <a:lstStyle/>
          <a:p>
            <a:r>
              <a:rPr lang="zh-CN" altLang="en-US" dirty="0">
                <a:solidFill>
                  <a:schemeClr val="tx1">
                    <a:lumMod val="95000"/>
                    <a:lumOff val="5000"/>
                  </a:schemeClr>
                </a:solidFill>
                <a:effectLst/>
                <a:latin typeface="Times New Roman" panose="02020603050405020304" pitchFamily="18" charset="0"/>
                <a:ea typeface="黑体" panose="02010609060101010101" pitchFamily="49" charset="-122"/>
                <a:cs typeface="Times New Roman" panose="02020603050405020304" pitchFamily="18" charset="0"/>
              </a:rPr>
              <a:t>星</a:t>
            </a:r>
            <a:r>
              <a:rPr lang="zh-CN" altLang="en-US" b="0" dirty="0">
                <a:solidFill>
                  <a:schemeClr val="tx1">
                    <a:lumMod val="95000"/>
                    <a:lumOff val="5000"/>
                  </a:schemeClr>
                </a:solidFill>
                <a:effectLst/>
                <a:latin typeface="Times New Roman" panose="02020603050405020304" pitchFamily="18" charset="0"/>
                <a:ea typeface="黑体" panose="02010609060101010101" pitchFamily="49" charset="-122"/>
                <a:cs typeface="Times New Roman" panose="02020603050405020304" pitchFamily="18" charset="0"/>
              </a:rPr>
              <a:t>鸦优化算法 </a:t>
            </a:r>
            <a:r>
              <a:rPr lang="en-US" altLang="zh-CN" b="0" dirty="0">
                <a:solidFill>
                  <a:schemeClr val="tx1">
                    <a:lumMod val="95000"/>
                    <a:lumOff val="5000"/>
                  </a:schemeClr>
                </a:solidFill>
                <a:effectLst/>
                <a:latin typeface="Times New Roman" panose="02020603050405020304" pitchFamily="18" charset="0"/>
                <a:ea typeface="黑体" panose="02010609060101010101" pitchFamily="49" charset="-122"/>
                <a:cs typeface="Times New Roman" panose="02020603050405020304" pitchFamily="18" charset="0"/>
              </a:rPr>
              <a:t>(NOA)</a:t>
            </a:r>
            <a:endParaRPr lang="zh-CN" altLang="en-US" dirty="0">
              <a:solidFill>
                <a:schemeClr val="tx1">
                  <a:lumMod val="95000"/>
                  <a:lumOff val="5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a:extLst>
              <a:ext uri="{FF2B5EF4-FFF2-40B4-BE49-F238E27FC236}">
                <a16:creationId xmlns:a16="http://schemas.microsoft.com/office/drawing/2014/main" id="{FE5865B7-197B-D372-D600-09686C786B65}"/>
              </a:ext>
            </a:extLst>
          </p:cNvPr>
          <p:cNvPicPr>
            <a:picLocks noChangeAspect="1"/>
          </p:cNvPicPr>
          <p:nvPr/>
        </p:nvPicPr>
        <p:blipFill>
          <a:blip r:embed="rId3"/>
          <a:stretch>
            <a:fillRect/>
          </a:stretch>
        </p:blipFill>
        <p:spPr>
          <a:xfrm>
            <a:off x="1934804" y="2970107"/>
            <a:ext cx="8322387" cy="3734321"/>
          </a:xfrm>
          <a:prstGeom prst="rect">
            <a:avLst/>
          </a:prstGeom>
          <a:ln>
            <a:noFill/>
          </a:ln>
          <a:effectLst>
            <a:softEdge rad="112500"/>
          </a:effectLst>
        </p:spPr>
      </p:pic>
      <p:sp>
        <p:nvSpPr>
          <p:cNvPr id="4" name="内容占位符 2">
            <a:extLst>
              <a:ext uri="{FF2B5EF4-FFF2-40B4-BE49-F238E27FC236}">
                <a16:creationId xmlns:a16="http://schemas.microsoft.com/office/drawing/2014/main" id="{EB8BF8BA-0DB3-9D89-CB55-034B440C4933}"/>
              </a:ext>
            </a:extLst>
          </p:cNvPr>
          <p:cNvSpPr>
            <a:spLocks noGrp="1"/>
          </p:cNvSpPr>
          <p:nvPr>
            <p:ph idx="1"/>
          </p:nvPr>
        </p:nvSpPr>
        <p:spPr>
          <a:xfrm>
            <a:off x="838198" y="1253331"/>
            <a:ext cx="10515600" cy="4351338"/>
          </a:xfrm>
        </p:spPr>
        <p:txBody>
          <a:bodyPr>
            <a:normAutofit/>
          </a:bodyPr>
          <a:lstStyle/>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NOA</a:t>
            </a:r>
            <a:r>
              <a:rPr lang="zh-CN" altLang="en-US" sz="2000" dirty="0">
                <a:ea typeface="黑体" panose="02010609060101010101" pitchFamily="49" charset="-122"/>
              </a:rPr>
              <a:t>是一种自然启发的元启发式算法，模仿了星鸦在不同的时期表现出两种不同的行为。</a:t>
            </a:r>
          </a:p>
          <a:p>
            <a:r>
              <a:rPr lang="zh-CN" altLang="en-US" sz="2000" dirty="0">
                <a:ea typeface="黑体" panose="02010609060101010101" pitchFamily="49" charset="-122"/>
              </a:rPr>
              <a:t>第一种发生在夏季和秋季，星鸦寻找种子并随后将其储存在适当的贮藏处。</a:t>
            </a:r>
          </a:p>
          <a:p>
            <a:r>
              <a:rPr lang="zh-CN" altLang="en-US" sz="2000" dirty="0">
                <a:ea typeface="黑体" panose="02010609060101010101" pitchFamily="49" charset="-122"/>
              </a:rPr>
              <a:t>第二种发生在冬季和春季，星鸦基于空间记忆利用各种物体或标记作为参考点，寻找不同角度标记的隐藏贮藏物。</a:t>
            </a:r>
          </a:p>
          <a:p>
            <a:endParaRPr lang="zh-CN" altLang="en-US" sz="2000" dirty="0">
              <a:ea typeface="黑体" panose="02010609060101010101" pitchFamily="49" charset="-122"/>
            </a:endParaRPr>
          </a:p>
        </p:txBody>
      </p:sp>
    </p:spTree>
    <p:extLst>
      <p:ext uri="{BB962C8B-B14F-4D97-AF65-F5344CB8AC3E}">
        <p14:creationId xmlns:p14="http://schemas.microsoft.com/office/powerpoint/2010/main" val="1339204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A5320F-0DE1-C521-57E4-92E41C2C1E88}"/>
              </a:ext>
            </a:extLst>
          </p:cNvPr>
          <p:cNvSpPr>
            <a:spLocks noGrp="1"/>
          </p:cNvSpPr>
          <p:nvPr>
            <p:ph type="title"/>
          </p:nvPr>
        </p:nvSpPr>
        <p:spPr>
          <a:xfrm>
            <a:off x="1219234" y="0"/>
            <a:ext cx="9905998" cy="1478570"/>
          </a:xfrm>
        </p:spPr>
        <p:txBody>
          <a:bodyPr/>
          <a:lstStyle/>
          <a:p>
            <a:r>
              <a:rPr lang="en-US" altLang="zh-CN" dirty="0">
                <a:latin typeface="Times New Roman" panose="02020603050405020304" pitchFamily="18" charset="0"/>
                <a:ea typeface="黑体" panose="02010609060101010101" pitchFamily="49" charset="-122"/>
                <a:cs typeface="Times New Roman" panose="02020603050405020304" pitchFamily="18" charset="0"/>
              </a:rPr>
              <a:t>NOA</a:t>
            </a:r>
            <a:r>
              <a:rPr lang="zh-CN" altLang="en-US" dirty="0">
                <a:latin typeface="Times New Roman" panose="02020603050405020304" pitchFamily="18" charset="0"/>
                <a:ea typeface="黑体" panose="02010609060101010101" pitchFamily="49" charset="-122"/>
                <a:cs typeface="Times New Roman" panose="02020603050405020304" pitchFamily="18" charset="0"/>
              </a:rPr>
              <a:t>主要流程</a:t>
            </a:r>
          </a:p>
        </p:txBody>
      </p:sp>
      <p:sp>
        <p:nvSpPr>
          <p:cNvPr id="3" name="内容占位符 2">
            <a:extLst>
              <a:ext uri="{FF2B5EF4-FFF2-40B4-BE49-F238E27FC236}">
                <a16:creationId xmlns:a16="http://schemas.microsoft.com/office/drawing/2014/main" id="{9E6D3D60-2D24-2FB8-5202-19FC9659B534}"/>
              </a:ext>
            </a:extLst>
          </p:cNvPr>
          <p:cNvSpPr>
            <a:spLocks noGrp="1"/>
          </p:cNvSpPr>
          <p:nvPr>
            <p:ph idx="1"/>
          </p:nvPr>
        </p:nvSpPr>
        <p:spPr>
          <a:xfrm>
            <a:off x="838199" y="1128296"/>
            <a:ext cx="10515600" cy="2072104"/>
          </a:xfrm>
        </p:spPr>
        <p:txBody>
          <a:bodyPr>
            <a:noAutofit/>
          </a:bodyPr>
          <a:lstStyle/>
          <a:p>
            <a:r>
              <a:rPr lang="zh-CN" altLang="en-US" sz="2000" dirty="0">
                <a:latin typeface="黑体" panose="02010609060101010101" pitchFamily="49" charset="-122"/>
                <a:ea typeface="黑体" panose="02010609060101010101" pitchFamily="49" charset="-122"/>
                <a:cs typeface="Times New Roman" panose="02020603050405020304" pitchFamily="18" charset="0"/>
              </a:rPr>
              <a:t>每轮迭代会按概率执行阶段一（觅食）和阶段二（找寻）。</a:t>
            </a:r>
          </a:p>
          <a:p>
            <a:r>
              <a:rPr lang="zh-CN" altLang="en-US" sz="2000" dirty="0">
                <a:latin typeface="黑体" panose="02010609060101010101" pitchFamily="49" charset="-122"/>
                <a:ea typeface="黑体" panose="02010609060101010101" pitchFamily="49" charset="-122"/>
                <a:cs typeface="Times New Roman" panose="02020603050405020304" pitchFamily="18" charset="0"/>
              </a:rPr>
              <a:t>阶段一过程中，算法会随机执行觅食和储存。即星鸦找到食物并将其储存。</a:t>
            </a:r>
          </a:p>
          <a:p>
            <a:r>
              <a:rPr lang="zh-CN" altLang="en-US" sz="2000" dirty="0">
                <a:latin typeface="黑体" panose="02010609060101010101" pitchFamily="49" charset="-122"/>
                <a:ea typeface="黑体" panose="02010609060101010101" pitchFamily="49" charset="-122"/>
                <a:cs typeface="Times New Roman" panose="02020603050405020304" pitchFamily="18" charset="0"/>
              </a:rPr>
              <a:t>阶段二过程中，算法会随机执行找寻和找回策略。即星鸦尝试寻找之前储存的食物，如果寻找失败会尝试找回策略。</a:t>
            </a:r>
          </a:p>
        </p:txBody>
      </p:sp>
      <p:pic>
        <p:nvPicPr>
          <p:cNvPr id="4" name="图片 3">
            <a:extLst>
              <a:ext uri="{FF2B5EF4-FFF2-40B4-BE49-F238E27FC236}">
                <a16:creationId xmlns:a16="http://schemas.microsoft.com/office/drawing/2014/main" id="{37D3CAC9-195B-CA37-D67D-CF4026EC1282}"/>
              </a:ext>
            </a:extLst>
          </p:cNvPr>
          <p:cNvPicPr>
            <a:picLocks noChangeAspect="1"/>
          </p:cNvPicPr>
          <p:nvPr/>
        </p:nvPicPr>
        <p:blipFill>
          <a:blip r:embed="rId3"/>
          <a:stretch>
            <a:fillRect/>
          </a:stretch>
        </p:blipFill>
        <p:spPr>
          <a:xfrm>
            <a:off x="2167401" y="3016181"/>
            <a:ext cx="7857197" cy="347669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710140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236265-FAAB-9620-2943-D618F6525FD4}"/>
              </a:ext>
            </a:extLst>
          </p:cNvPr>
          <p:cNvSpPr>
            <a:spLocks noGrp="1"/>
          </p:cNvSpPr>
          <p:nvPr>
            <p:ph type="title"/>
          </p:nvPr>
        </p:nvSpPr>
        <p:spPr/>
        <p:txBody>
          <a:bodyPr/>
          <a:lstStyle/>
          <a:p>
            <a:r>
              <a:rPr lang="zh-CN" altLang="en-US" dirty="0">
                <a:ea typeface="黑体" panose="02010609060101010101" pitchFamily="49" charset="-122"/>
              </a:rPr>
              <a:t>采用启发式算法优化支持向量机</a:t>
            </a:r>
          </a:p>
        </p:txBody>
      </p:sp>
      <p:sp>
        <p:nvSpPr>
          <p:cNvPr id="3" name="文本占位符 2">
            <a:extLst>
              <a:ext uri="{FF2B5EF4-FFF2-40B4-BE49-F238E27FC236}">
                <a16:creationId xmlns:a16="http://schemas.microsoft.com/office/drawing/2014/main" id="{8695B3D3-CEC2-656D-4F85-5EFCA6A2B3A6}"/>
              </a:ext>
            </a:extLst>
          </p:cNvPr>
          <p:cNvSpPr>
            <a:spLocks noGrp="1"/>
          </p:cNvSpPr>
          <p:nvPr>
            <p:ph type="body" idx="1"/>
          </p:nvPr>
        </p:nvSpPr>
        <p:spPr/>
        <p:txBody>
          <a:bodyPr/>
          <a:lstStyle/>
          <a:p>
            <a:r>
              <a:rPr lang="zh-CN" altLang="en-US" dirty="0">
                <a:ea typeface="黑体" panose="02010609060101010101" pitchFamily="49" charset="-122"/>
              </a:rPr>
              <a:t>汇报人：姜钟珩</a:t>
            </a:r>
            <a:endParaRPr lang="en-US" altLang="zh-CN" dirty="0">
              <a:ea typeface="黑体" panose="02010609060101010101" pitchFamily="49" charset="-122"/>
            </a:endParaRPr>
          </a:p>
        </p:txBody>
      </p:sp>
    </p:spTree>
    <p:extLst>
      <p:ext uri="{BB962C8B-B14F-4D97-AF65-F5344CB8AC3E}">
        <p14:creationId xmlns:p14="http://schemas.microsoft.com/office/powerpoint/2010/main" val="41911483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E5DA18-1747-0741-2D5A-5A9FFB99995C}"/>
              </a:ext>
            </a:extLst>
          </p:cNvPr>
          <p:cNvSpPr>
            <a:spLocks noGrp="1"/>
          </p:cNvSpPr>
          <p:nvPr>
            <p:ph type="title"/>
          </p:nvPr>
        </p:nvSpPr>
        <p:spPr>
          <a:xfrm>
            <a:off x="855600" y="0"/>
            <a:ext cx="9907200" cy="1325563"/>
          </a:xfrm>
        </p:spPr>
        <p:txBody>
          <a:bodyPr>
            <a:normAutofit/>
          </a:bodyPr>
          <a:lstStyle/>
          <a:p>
            <a:r>
              <a:rPr lang="en-US" altLang="zh-CN" dirty="0">
                <a:latin typeface="Times New Roman" panose="02020603050405020304" pitchFamily="18" charset="0"/>
                <a:ea typeface="黑体" panose="02010609060101010101" pitchFamily="49" charset="-122"/>
                <a:cs typeface="Times New Roman" panose="02020603050405020304" pitchFamily="18" charset="0"/>
              </a:rPr>
              <a:t>SVM</a:t>
            </a:r>
            <a:br>
              <a:rPr lang="en-US" altLang="zh-CN" dirty="0">
                <a:latin typeface="Times New Roman" panose="02020603050405020304" pitchFamily="18" charset="0"/>
                <a:ea typeface="黑体" panose="02010609060101010101" pitchFamily="49" charset="-122"/>
                <a:cs typeface="Times New Roman" panose="02020603050405020304" pitchFamily="18" charset="0"/>
              </a:rPr>
            </a:b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Support Vector Machines</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内容占位符 2">
            <a:extLst>
              <a:ext uri="{FF2B5EF4-FFF2-40B4-BE49-F238E27FC236}">
                <a16:creationId xmlns:a16="http://schemas.microsoft.com/office/drawing/2014/main" id="{93A76258-3A30-E520-01F4-4BC7AB190E26}"/>
              </a:ext>
            </a:extLst>
          </p:cNvPr>
          <p:cNvSpPr>
            <a:spLocks noGrp="1"/>
          </p:cNvSpPr>
          <p:nvPr>
            <p:ph idx="1"/>
          </p:nvPr>
        </p:nvSpPr>
        <p:spPr>
          <a:xfrm>
            <a:off x="612409" y="1341794"/>
            <a:ext cx="4630768" cy="4712915"/>
          </a:xfrm>
        </p:spPr>
        <p:txBody>
          <a:bodyPr>
            <a:noAutofit/>
          </a:bodyPr>
          <a:lstStyle/>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SVM</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（支持向量机）算法的目标是找到一个能够完全分隔所有样本并使间隔最大的超平面。</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SMO (Sequential Minimal Optimization)</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 通过将大规模的二次优化问题分解为多个简单的二次规划子问题来加速求解过程。</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通过引入核函数，</a:t>
            </a:r>
            <a:r>
              <a:rPr lang="en-US" altLang="zh-CN" sz="2000" dirty="0" err="1">
                <a:latin typeface="Times New Roman" panose="02020603050405020304" pitchFamily="18" charset="0"/>
                <a:ea typeface="黑体" panose="02010609060101010101" pitchFamily="49" charset="-122"/>
                <a:cs typeface="Times New Roman" panose="02020603050405020304" pitchFamily="18" charset="0"/>
              </a:rPr>
              <a:t>SVM</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可以将样本的特征映射到高维空间，从而有效地解决非线性分类问题。</a:t>
            </a:r>
          </a:p>
          <a:p>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采用软间隔的</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SVM</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允许部分样本出现分类错误，从而提升了算法的鲁棒性和实际应用性能。</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4" name="组合 3">
            <a:extLst>
              <a:ext uri="{FF2B5EF4-FFF2-40B4-BE49-F238E27FC236}">
                <a16:creationId xmlns:a16="http://schemas.microsoft.com/office/drawing/2014/main" id="{56359619-BEC9-5A9A-EB69-8494F6B9CFC1}"/>
              </a:ext>
            </a:extLst>
          </p:cNvPr>
          <p:cNvGrpSpPr/>
          <p:nvPr/>
        </p:nvGrpSpPr>
        <p:grpSpPr>
          <a:xfrm>
            <a:off x="5476643" y="643731"/>
            <a:ext cx="6438414" cy="5570538"/>
            <a:chOff x="4508658" y="271462"/>
            <a:chExt cx="7435400" cy="6433134"/>
          </a:xfrm>
        </p:grpSpPr>
        <p:pic>
          <p:nvPicPr>
            <p:cNvPr id="6" name="图片 5">
              <a:extLst>
                <a:ext uri="{FF2B5EF4-FFF2-40B4-BE49-F238E27FC236}">
                  <a16:creationId xmlns:a16="http://schemas.microsoft.com/office/drawing/2014/main" id="{7A06C617-5FA6-D8DA-8864-0C92213B78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08658" y="271462"/>
              <a:ext cx="3600000" cy="2700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图片 7">
              <a:extLst>
                <a:ext uri="{FF2B5EF4-FFF2-40B4-BE49-F238E27FC236}">
                  <a16:creationId xmlns:a16="http://schemas.microsoft.com/office/drawing/2014/main" id="{B1774344-65E6-78B4-2A71-3410039FD3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44058" y="3582790"/>
              <a:ext cx="3600000" cy="2700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 name="图片 9">
              <a:extLst>
                <a:ext uri="{FF2B5EF4-FFF2-40B4-BE49-F238E27FC236}">
                  <a16:creationId xmlns:a16="http://schemas.microsoft.com/office/drawing/2014/main" id="{4624CA18-E2B7-0B2B-0FB6-2468C3D8E16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44058" y="271462"/>
              <a:ext cx="3600000" cy="2700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2" name="图片 11">
              <a:extLst>
                <a:ext uri="{FF2B5EF4-FFF2-40B4-BE49-F238E27FC236}">
                  <a16:creationId xmlns:a16="http://schemas.microsoft.com/office/drawing/2014/main" id="{1C2EE0F7-7F08-ED5C-5EFA-CE6879CC848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08658" y="3582790"/>
              <a:ext cx="3600000" cy="2700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4" name="矩形 13">
              <a:extLst>
                <a:ext uri="{FF2B5EF4-FFF2-40B4-BE49-F238E27FC236}">
                  <a16:creationId xmlns:a16="http://schemas.microsoft.com/office/drawing/2014/main" id="{A19E6DFE-EE19-E3AA-7068-B67E100B3F94}"/>
                </a:ext>
              </a:extLst>
            </p:cNvPr>
            <p:cNvSpPr/>
            <p:nvPr/>
          </p:nvSpPr>
          <p:spPr>
            <a:xfrm>
              <a:off x="5373091" y="3011758"/>
              <a:ext cx="1871133" cy="368536"/>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dirty="0">
                  <a:latin typeface="Times New Roman" panose="02020603050405020304" pitchFamily="18" charset="0"/>
                  <a:ea typeface="黑体" panose="02010609060101010101" pitchFamily="49" charset="-122"/>
                  <a:cs typeface="Times New Roman" panose="02020603050405020304" pitchFamily="18" charset="0"/>
                </a:rPr>
                <a:t>普通</a:t>
              </a:r>
              <a:r>
                <a:rPr lang="en-US" altLang="zh-CN" dirty="0">
                  <a:latin typeface="Times New Roman" panose="02020603050405020304" pitchFamily="18" charset="0"/>
                  <a:ea typeface="黑体" panose="02010609060101010101" pitchFamily="49" charset="-122"/>
                  <a:cs typeface="Times New Roman" panose="02020603050405020304" pitchFamily="18" charset="0"/>
                </a:rPr>
                <a:t>SVM</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5" name="矩形 14">
              <a:extLst>
                <a:ext uri="{FF2B5EF4-FFF2-40B4-BE49-F238E27FC236}">
                  <a16:creationId xmlns:a16="http://schemas.microsoft.com/office/drawing/2014/main" id="{C0228912-7AFE-6D02-8585-73D2FB3D10B7}"/>
                </a:ext>
              </a:extLst>
            </p:cNvPr>
            <p:cNvSpPr/>
            <p:nvPr/>
          </p:nvSpPr>
          <p:spPr>
            <a:xfrm>
              <a:off x="9208491" y="3024350"/>
              <a:ext cx="1871133" cy="368536"/>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dirty="0">
                  <a:latin typeface="Times New Roman" panose="02020603050405020304" pitchFamily="18" charset="0"/>
                  <a:ea typeface="黑体" panose="02010609060101010101" pitchFamily="49" charset="-122"/>
                  <a:cs typeface="Times New Roman" panose="02020603050405020304" pitchFamily="18" charset="0"/>
                </a:rPr>
                <a:t>核函数</a:t>
              </a:r>
              <a:r>
                <a:rPr lang="en-US" altLang="zh-CN" dirty="0">
                  <a:latin typeface="Times New Roman" panose="02020603050405020304" pitchFamily="18" charset="0"/>
                  <a:ea typeface="黑体" panose="02010609060101010101" pitchFamily="49" charset="-122"/>
                  <a:cs typeface="Times New Roman" panose="02020603050405020304" pitchFamily="18" charset="0"/>
                </a:rPr>
                <a:t>SVM</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6" name="矩形 15">
              <a:extLst>
                <a:ext uri="{FF2B5EF4-FFF2-40B4-BE49-F238E27FC236}">
                  <a16:creationId xmlns:a16="http://schemas.microsoft.com/office/drawing/2014/main" id="{C159A30E-5CD1-810B-1DC2-BB1864950CD4}"/>
                </a:ext>
              </a:extLst>
            </p:cNvPr>
            <p:cNvSpPr/>
            <p:nvPr/>
          </p:nvSpPr>
          <p:spPr>
            <a:xfrm>
              <a:off x="5373091" y="6336060"/>
              <a:ext cx="1871133" cy="368536"/>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dirty="0">
                  <a:latin typeface="Times New Roman" panose="02020603050405020304" pitchFamily="18" charset="0"/>
                  <a:ea typeface="黑体" panose="02010609060101010101" pitchFamily="49" charset="-122"/>
                  <a:cs typeface="Times New Roman" panose="02020603050405020304" pitchFamily="18" charset="0"/>
                </a:rPr>
                <a:t>软间隔</a:t>
              </a:r>
              <a:r>
                <a:rPr lang="en-US" altLang="zh-CN" dirty="0">
                  <a:latin typeface="Times New Roman" panose="02020603050405020304" pitchFamily="18" charset="0"/>
                  <a:ea typeface="黑体" panose="02010609060101010101" pitchFamily="49" charset="-122"/>
                  <a:cs typeface="Times New Roman" panose="02020603050405020304" pitchFamily="18" charset="0"/>
                </a:rPr>
                <a:t>SVM</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7" name="矩形 16">
              <a:extLst>
                <a:ext uri="{FF2B5EF4-FFF2-40B4-BE49-F238E27FC236}">
                  <a16:creationId xmlns:a16="http://schemas.microsoft.com/office/drawing/2014/main" id="{F14D2BBF-C297-4BC4-6555-322CC3E7F4AC}"/>
                </a:ext>
              </a:extLst>
            </p:cNvPr>
            <p:cNvSpPr/>
            <p:nvPr/>
          </p:nvSpPr>
          <p:spPr>
            <a:xfrm>
              <a:off x="9208490" y="6328613"/>
              <a:ext cx="1871133" cy="368536"/>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dirty="0">
                  <a:latin typeface="Times New Roman" panose="02020603050405020304" pitchFamily="18" charset="0"/>
                  <a:ea typeface="黑体" panose="02010609060101010101" pitchFamily="49" charset="-122"/>
                  <a:cs typeface="Times New Roman" panose="02020603050405020304" pitchFamily="18" charset="0"/>
                </a:rPr>
                <a:t>完全体</a:t>
              </a:r>
              <a:r>
                <a:rPr lang="en-US" altLang="zh-CN" dirty="0">
                  <a:latin typeface="Times New Roman" panose="02020603050405020304" pitchFamily="18" charset="0"/>
                  <a:ea typeface="黑体" panose="02010609060101010101" pitchFamily="49" charset="-122"/>
                  <a:cs typeface="Times New Roman" panose="02020603050405020304" pitchFamily="18" charset="0"/>
                </a:rPr>
                <a:t>SVM</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2042819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4AB6C0-3E1C-5016-3ABB-790123DED388}"/>
              </a:ext>
            </a:extLst>
          </p:cNvPr>
          <p:cNvSpPr>
            <a:spLocks noGrp="1"/>
          </p:cNvSpPr>
          <p:nvPr>
            <p:ph type="title"/>
          </p:nvPr>
        </p:nvSpPr>
        <p:spPr>
          <a:xfrm>
            <a:off x="1141413" y="0"/>
            <a:ext cx="9905998" cy="1478570"/>
          </a:xfrm>
        </p:spPr>
        <p:txBody>
          <a:bodyPr/>
          <a:lstStyle/>
          <a:p>
            <a:r>
              <a:rPr lang="en-US" altLang="zh-CN" dirty="0" err="1">
                <a:latin typeface="Times New Roman" panose="02020603050405020304" pitchFamily="18" charset="0"/>
                <a:ea typeface="黑体" panose="02010609060101010101" pitchFamily="49" charset="-122"/>
                <a:cs typeface="Times New Roman" panose="02020603050405020304" pitchFamily="18" charset="0"/>
              </a:rPr>
              <a:t>SVM</a:t>
            </a:r>
            <a:r>
              <a:rPr lang="zh-CN" altLang="en-US" dirty="0">
                <a:ea typeface="黑体" panose="02010609060101010101" pitchFamily="49" charset="-122"/>
              </a:rPr>
              <a:t>的实现细节</a:t>
            </a:r>
          </a:p>
        </p:txBody>
      </p:sp>
      <p:sp>
        <p:nvSpPr>
          <p:cNvPr id="3" name="内容占位符 2">
            <a:extLst>
              <a:ext uri="{FF2B5EF4-FFF2-40B4-BE49-F238E27FC236}">
                <a16:creationId xmlns:a16="http://schemas.microsoft.com/office/drawing/2014/main" id="{E305D0CF-FAA0-6A48-19C6-06E5AEEEAF54}"/>
              </a:ext>
            </a:extLst>
          </p:cNvPr>
          <p:cNvSpPr>
            <a:spLocks noGrp="1"/>
          </p:cNvSpPr>
          <p:nvPr>
            <p:ph idx="1"/>
          </p:nvPr>
        </p:nvSpPr>
        <p:spPr>
          <a:xfrm>
            <a:off x="557752" y="1356991"/>
            <a:ext cx="5495284" cy="4555788"/>
          </a:xfrm>
        </p:spPr>
        <p:txBody>
          <a:bodyPr>
            <a:normAutofit fontScale="92500"/>
          </a:bodyPr>
          <a:lstStyle/>
          <a:p>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本算法采用了径向基核函数。</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首先，初始化所有拉格朗日算子𝛼为</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0</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a:t>
            </a:r>
          </a:p>
          <a:p>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随后，在每一轮迭代中，算法会优先选择违反分类间隔条件最严重的变量作为第一个优化目标。随后根据最大化步长的原则选择第二个变量。</a:t>
            </a:r>
          </a:p>
          <a:p>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随后判断是否可以对其进行优化，如果可以优化，则对这两个拉格朗日算子进行优化，在优化过程中需要保证</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KKT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条件的满足。</a:t>
            </a:r>
          </a:p>
          <a:p>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通过上述逐步优化，</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SMO</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能够高效收敛到</a:t>
            </a:r>
            <a:r>
              <a:rPr lang="en-US" altLang="zh-CN" sz="2000" dirty="0" err="1">
                <a:latin typeface="Times New Roman" panose="02020603050405020304" pitchFamily="18" charset="0"/>
                <a:ea typeface="黑体" panose="02010609060101010101" pitchFamily="49" charset="-122"/>
                <a:cs typeface="Times New Roman" panose="02020603050405020304" pitchFamily="18" charset="0"/>
              </a:rPr>
              <a:t>SVM</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对偶问题的最优解，从而生成最终的分类器。</a:t>
            </a:r>
          </a:p>
        </p:txBody>
      </p:sp>
      <p:pic>
        <p:nvPicPr>
          <p:cNvPr id="11" name="图片 10">
            <a:extLst>
              <a:ext uri="{FF2B5EF4-FFF2-40B4-BE49-F238E27FC236}">
                <a16:creationId xmlns:a16="http://schemas.microsoft.com/office/drawing/2014/main" id="{1DCC6203-B0F5-3642-2152-02F6213CF5F6}"/>
              </a:ext>
            </a:extLst>
          </p:cNvPr>
          <p:cNvPicPr>
            <a:picLocks noChangeAspect="1"/>
          </p:cNvPicPr>
          <p:nvPr/>
        </p:nvPicPr>
        <p:blipFill>
          <a:blip r:embed="rId3"/>
          <a:stretch>
            <a:fillRect/>
          </a:stretch>
        </p:blipFill>
        <p:spPr>
          <a:xfrm>
            <a:off x="6181799" y="2185783"/>
            <a:ext cx="6010201" cy="4102201"/>
          </a:xfrm>
          <a:prstGeom prst="rect">
            <a:avLst/>
          </a:prstGeom>
        </p:spPr>
      </p:pic>
      <p:grpSp>
        <p:nvGrpSpPr>
          <p:cNvPr id="4" name="组合 3">
            <a:extLst>
              <a:ext uri="{FF2B5EF4-FFF2-40B4-BE49-F238E27FC236}">
                <a16:creationId xmlns:a16="http://schemas.microsoft.com/office/drawing/2014/main" id="{3F4A93B2-4D4D-E93C-9177-535A08DC2B9C}"/>
              </a:ext>
            </a:extLst>
          </p:cNvPr>
          <p:cNvGrpSpPr/>
          <p:nvPr/>
        </p:nvGrpSpPr>
        <p:grpSpPr>
          <a:xfrm>
            <a:off x="7209821" y="739285"/>
            <a:ext cx="4176092" cy="908554"/>
            <a:chOff x="7346009" y="717020"/>
            <a:chExt cx="4176092" cy="908554"/>
          </a:xfrm>
        </p:grpSpPr>
        <p:graphicFrame>
          <p:nvGraphicFramePr>
            <p:cNvPr id="5" name="对象 4">
              <a:extLst>
                <a:ext uri="{FF2B5EF4-FFF2-40B4-BE49-F238E27FC236}">
                  <a16:creationId xmlns:a16="http://schemas.microsoft.com/office/drawing/2014/main" id="{530E3ADA-EFB1-8E48-8797-E3A29918CFFA}"/>
                </a:ext>
              </a:extLst>
            </p:cNvPr>
            <p:cNvGraphicFramePr>
              <a:graphicFrameLocks noChangeAspect="1"/>
            </p:cNvGraphicFramePr>
            <p:nvPr>
              <p:extLst>
                <p:ext uri="{D42A27DB-BD31-4B8C-83A1-F6EECF244321}">
                  <p14:modId xmlns:p14="http://schemas.microsoft.com/office/powerpoint/2010/main" val="3719641018"/>
                </p:ext>
              </p:extLst>
            </p:nvPr>
          </p:nvGraphicFramePr>
          <p:xfrm>
            <a:off x="7346009" y="717020"/>
            <a:ext cx="4176092" cy="540000"/>
          </p:xfrm>
          <a:graphic>
            <a:graphicData uri="http://schemas.openxmlformats.org/presentationml/2006/ole">
              <mc:AlternateContent xmlns:mc="http://schemas.openxmlformats.org/markup-compatibility/2006">
                <mc:Choice xmlns:v="urn:schemas-microsoft-com:vml" Requires="v">
                  <p:oleObj name="Equation" r:id="rId4" imgW="1866600" imgH="241200" progId="Equation.DSMT4">
                    <p:embed/>
                  </p:oleObj>
                </mc:Choice>
                <mc:Fallback>
                  <p:oleObj name="Equation" r:id="rId4" imgW="1866600" imgH="241200" progId="Equation.DSMT4">
                    <p:embed/>
                    <p:pic>
                      <p:nvPicPr>
                        <p:cNvPr id="15" name="对象 14">
                          <a:extLst>
                            <a:ext uri="{FF2B5EF4-FFF2-40B4-BE49-F238E27FC236}">
                              <a16:creationId xmlns:a16="http://schemas.microsoft.com/office/drawing/2014/main" id="{B33FFD19-DCD0-9C44-8FE8-8BFD0C88A069}"/>
                            </a:ext>
                          </a:extLst>
                        </p:cNvPr>
                        <p:cNvPicPr/>
                        <p:nvPr/>
                      </p:nvPicPr>
                      <p:blipFill>
                        <a:blip r:embed="rId5"/>
                        <a:stretch>
                          <a:fillRect/>
                        </a:stretch>
                      </p:blipFill>
                      <p:spPr>
                        <a:xfrm>
                          <a:off x="7346009" y="717020"/>
                          <a:ext cx="4176092" cy="540000"/>
                        </a:xfrm>
                        <a:prstGeom prst="rect">
                          <a:avLst/>
                        </a:prstGeom>
                      </p:spPr>
                    </p:pic>
                  </p:oleObj>
                </mc:Fallback>
              </mc:AlternateContent>
            </a:graphicData>
          </a:graphic>
        </p:graphicFrame>
        <p:sp>
          <p:nvSpPr>
            <p:cNvPr id="6" name="文本框 5">
              <a:extLst>
                <a:ext uri="{FF2B5EF4-FFF2-40B4-BE49-F238E27FC236}">
                  <a16:creationId xmlns:a16="http://schemas.microsoft.com/office/drawing/2014/main" id="{763587FF-0C21-7F2D-B40B-4303DC7D9DB4}"/>
                </a:ext>
              </a:extLst>
            </p:cNvPr>
            <p:cNvSpPr txBox="1"/>
            <p:nvPr/>
          </p:nvSpPr>
          <p:spPr>
            <a:xfrm>
              <a:off x="7611788" y="1256242"/>
              <a:ext cx="3644534" cy="369332"/>
            </a:xfrm>
            <a:prstGeom prst="rect">
              <a:avLst/>
            </a:prstGeom>
            <a:noFill/>
          </p:spPr>
          <p:txBody>
            <a:bodyPr wrap="square" rtlCol="0">
              <a:spAutoFit/>
            </a:bodyPr>
            <a:lstStyle/>
            <a:p>
              <a:pPr algn="ctr"/>
              <a:r>
                <a:rPr lang="en-US" altLang="zh-CN" i="1" dirty="0">
                  <a:latin typeface="黑体" panose="02010609060101010101" pitchFamily="49" charset="-122"/>
                </a:rPr>
                <a:t>NOA-SVM</a:t>
              </a:r>
              <a:r>
                <a:rPr lang="zh-CN" altLang="en-US" i="1" dirty="0">
                  <a:latin typeface="黑体" panose="02010609060101010101" pitchFamily="49" charset="-122"/>
                </a:rPr>
                <a:t>采用的径向基核函数</a:t>
              </a:r>
            </a:p>
          </p:txBody>
        </p:sp>
      </p:grpSp>
    </p:spTree>
    <p:extLst>
      <p:ext uri="{BB962C8B-B14F-4D97-AF65-F5344CB8AC3E}">
        <p14:creationId xmlns:p14="http://schemas.microsoft.com/office/powerpoint/2010/main" val="4140044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7B083E-CC86-731C-2929-E78B72B0BD09}"/>
              </a:ext>
            </a:extLst>
          </p:cNvPr>
          <p:cNvSpPr>
            <a:spLocks noGrp="1"/>
          </p:cNvSpPr>
          <p:nvPr>
            <p:ph type="title"/>
          </p:nvPr>
        </p:nvSpPr>
        <p:spPr>
          <a:xfrm>
            <a:off x="1142400" y="0"/>
            <a:ext cx="9907200" cy="1325563"/>
          </a:xfrm>
        </p:spPr>
        <p:txBody>
          <a:bodyPr/>
          <a:lstStyle/>
          <a:p>
            <a:r>
              <a:rPr lang="en-US" altLang="zh-CN" dirty="0" err="1">
                <a:latin typeface="Times New Roman" panose="02020603050405020304" pitchFamily="18" charset="0"/>
                <a:ea typeface="黑体" panose="02010609060101010101" pitchFamily="49" charset="-122"/>
                <a:cs typeface="Times New Roman" panose="02020603050405020304" pitchFamily="18" charset="0"/>
              </a:rPr>
              <a:t>SVM</a:t>
            </a:r>
            <a:r>
              <a:rPr lang="zh-CN" altLang="en-US" dirty="0">
                <a:latin typeface="黑体" panose="02010609060101010101" pitchFamily="49" charset="-122"/>
                <a:ea typeface="黑体" panose="02010609060101010101" pitchFamily="49" charset="-122"/>
              </a:rPr>
              <a:t>的局限性</a:t>
            </a:r>
          </a:p>
        </p:txBody>
      </p:sp>
      <p:sp>
        <p:nvSpPr>
          <p:cNvPr id="3" name="内容占位符 2">
            <a:extLst>
              <a:ext uri="{FF2B5EF4-FFF2-40B4-BE49-F238E27FC236}">
                <a16:creationId xmlns:a16="http://schemas.microsoft.com/office/drawing/2014/main" id="{0D30B27E-A89C-8B93-5D2F-EBE6D747B0C9}"/>
              </a:ext>
            </a:extLst>
          </p:cNvPr>
          <p:cNvSpPr>
            <a:spLocks noGrp="1"/>
          </p:cNvSpPr>
          <p:nvPr>
            <p:ph idx="1"/>
          </p:nvPr>
        </p:nvSpPr>
        <p:spPr>
          <a:xfrm>
            <a:off x="1064945" y="1201958"/>
            <a:ext cx="6126201" cy="4508915"/>
          </a:xfrm>
        </p:spPr>
        <p:txBody>
          <a:bodyPr>
            <a:noAutofit/>
          </a:bodyPr>
          <a:lstStyle/>
          <a:p>
            <a:r>
              <a:rPr lang="en-US" altLang="zh-CN" sz="2500" b="1"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500" b="1" dirty="0">
                <a:latin typeface="Times New Roman" panose="02020603050405020304" pitchFamily="18" charset="0"/>
                <a:ea typeface="黑体" panose="02010609060101010101" pitchFamily="49" charset="-122"/>
                <a:cs typeface="Times New Roman" panose="02020603050405020304" pitchFamily="18" charset="0"/>
              </a:rPr>
              <a:t>参数局限性</a:t>
            </a:r>
            <a:endParaRPr lang="en-US" altLang="zh-CN" sz="2500" b="1"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000" dirty="0" err="1">
                <a:latin typeface="Times New Roman" panose="02020603050405020304" pitchFamily="18" charset="0"/>
                <a:ea typeface="黑体" panose="02010609060101010101" pitchFamily="49" charset="-122"/>
                <a:cs typeface="Times New Roman" panose="02020603050405020304" pitchFamily="18" charset="0"/>
              </a:rPr>
              <a:t>SVM</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中的软间隔参数和核函数参数对模型性能有着重要影响。经验法，网格搜索法都有其弊端。</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500" b="1"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500" b="1" dirty="0">
                <a:latin typeface="Times New Roman" panose="02020603050405020304" pitchFamily="18" charset="0"/>
                <a:ea typeface="黑体" panose="02010609060101010101" pitchFamily="49" charset="-122"/>
                <a:cs typeface="Times New Roman" panose="02020603050405020304" pitchFamily="18" charset="0"/>
              </a:rPr>
              <a:t>模型局限性</a:t>
            </a:r>
          </a:p>
          <a:p>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相较于复杂的多层神经网络，</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SVM</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模型结构相对简单，在处理复杂问题时可能陷入优化瓶颈，难以捕捉数据中的细微模式或复杂特征关系。</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500" b="1" dirty="0">
                <a:latin typeface="Times New Roman" panose="02020603050405020304" pitchFamily="18" charset="0"/>
                <a:ea typeface="黑体" panose="02010609060101010101" pitchFamily="49" charset="-122"/>
                <a:cs typeface="Times New Roman" panose="02020603050405020304" pitchFamily="18" charset="0"/>
              </a:rPr>
              <a:t>3.</a:t>
            </a:r>
            <a:r>
              <a:rPr lang="zh-CN" altLang="en-US" sz="2500" b="1" dirty="0">
                <a:latin typeface="Times New Roman" panose="02020603050405020304" pitchFamily="18" charset="0"/>
                <a:ea typeface="黑体" panose="02010609060101010101" pitchFamily="49" charset="-122"/>
                <a:cs typeface="Times New Roman" panose="02020603050405020304" pitchFamily="18" charset="0"/>
              </a:rPr>
              <a:t>解决方案</a:t>
            </a:r>
          </a:p>
          <a:p>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一种可行的改进策略是将启发式算法引入</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SVM</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模型，通过这种方式有可能在一定程度上提升</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SVM</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的分类效果，克服其在参数选择和模型优化上的局限性。</a:t>
            </a:r>
          </a:p>
        </p:txBody>
      </p:sp>
      <p:grpSp>
        <p:nvGrpSpPr>
          <p:cNvPr id="7" name="组合 6">
            <a:extLst>
              <a:ext uri="{FF2B5EF4-FFF2-40B4-BE49-F238E27FC236}">
                <a16:creationId xmlns:a16="http://schemas.microsoft.com/office/drawing/2014/main" id="{459E4785-C288-EB55-5D38-DE83CD2F55DA}"/>
              </a:ext>
            </a:extLst>
          </p:cNvPr>
          <p:cNvGrpSpPr/>
          <p:nvPr/>
        </p:nvGrpSpPr>
        <p:grpSpPr>
          <a:xfrm>
            <a:off x="7191146" y="3456416"/>
            <a:ext cx="4781510" cy="3243307"/>
            <a:chOff x="7191146" y="3456416"/>
            <a:chExt cx="4781510" cy="3243307"/>
          </a:xfrm>
        </p:grpSpPr>
        <p:pic>
          <p:nvPicPr>
            <p:cNvPr id="5" name="图片 4">
              <a:extLst>
                <a:ext uri="{FF2B5EF4-FFF2-40B4-BE49-F238E27FC236}">
                  <a16:creationId xmlns:a16="http://schemas.microsoft.com/office/drawing/2014/main" id="{478E5318-74E4-0FDC-433F-8A6251F161C1}"/>
                </a:ext>
              </a:extLst>
            </p:cNvPr>
            <p:cNvPicPr>
              <a:picLocks noChangeAspect="1"/>
            </p:cNvPicPr>
            <p:nvPr/>
          </p:nvPicPr>
          <p:blipFill>
            <a:blip r:embed="rId3">
              <a:extLst>
                <a:ext uri="{28A0092B-C50C-407E-A947-70E740481C1C}">
                  <a14:useLocalDpi xmlns:a14="http://schemas.microsoft.com/office/drawing/2010/main" val="0"/>
                </a:ext>
              </a:extLst>
            </a:blip>
            <a:srcRect l="22740" t="36277" r="27534" b="11243"/>
            <a:stretch/>
          </p:blipFill>
          <p:spPr>
            <a:xfrm>
              <a:off x="7583559" y="3456416"/>
              <a:ext cx="3996684" cy="2675466"/>
            </a:xfrm>
            <a:prstGeom prst="rect">
              <a:avLst/>
            </a:prstGeom>
            <a:ln>
              <a:noFill/>
            </a:ln>
            <a:effectLst>
              <a:softEdge rad="12700"/>
            </a:effectLst>
          </p:spPr>
        </p:pic>
        <p:sp>
          <p:nvSpPr>
            <p:cNvPr id="6" name="文本框 5">
              <a:extLst>
                <a:ext uri="{FF2B5EF4-FFF2-40B4-BE49-F238E27FC236}">
                  <a16:creationId xmlns:a16="http://schemas.microsoft.com/office/drawing/2014/main" id="{BD35B8D4-1F42-8BFA-99C4-8E850E4786BB}"/>
                </a:ext>
              </a:extLst>
            </p:cNvPr>
            <p:cNvSpPr txBox="1"/>
            <p:nvPr/>
          </p:nvSpPr>
          <p:spPr>
            <a:xfrm>
              <a:off x="7191146" y="6114948"/>
              <a:ext cx="4781510" cy="584775"/>
            </a:xfrm>
            <a:prstGeom prst="rect">
              <a:avLst/>
            </a:prstGeom>
            <a:noFill/>
          </p:spPr>
          <p:txBody>
            <a:bodyPr wrap="square" rtlCol="0">
              <a:spAutoFit/>
            </a:bodyPr>
            <a:lstStyle/>
            <a:p>
              <a:pPr algn="ctr"/>
              <a:r>
                <a:rPr lang="zh-CN" altLang="en-US" sz="1600" i="1" dirty="0">
                  <a:latin typeface="黑体" panose="02010609060101010101" pitchFamily="49" charset="-122"/>
                  <a:ea typeface="黑体" panose="02010609060101010101" pitchFamily="49" charset="-122"/>
                </a:rPr>
                <a:t>采用</a:t>
              </a:r>
              <a:r>
                <a:rPr lang="en-US" altLang="zh-CN" sz="1600" i="1" dirty="0">
                  <a:latin typeface="黑体" panose="02010609060101010101" pitchFamily="49" charset="-122"/>
                  <a:ea typeface="黑体" panose="02010609060101010101" pitchFamily="49" charset="-122"/>
                </a:rPr>
                <a:t>RBF</a:t>
              </a:r>
              <a:r>
                <a:rPr lang="zh-CN" altLang="en-US" sz="1600" i="1" dirty="0">
                  <a:latin typeface="黑体" panose="02010609060101010101" pitchFamily="49" charset="-122"/>
                  <a:ea typeface="黑体" panose="02010609060101010101" pitchFamily="49" charset="-122"/>
                </a:rPr>
                <a:t>核函数的</a:t>
              </a:r>
              <a:r>
                <a:rPr lang="en-US" altLang="zh-CN" sz="1600" i="1" dirty="0">
                  <a:latin typeface="黑体" panose="02010609060101010101" pitchFamily="49" charset="-122"/>
                  <a:ea typeface="黑体" panose="02010609060101010101" pitchFamily="49" charset="-122"/>
                </a:rPr>
                <a:t>SVM</a:t>
              </a:r>
              <a:r>
                <a:rPr lang="zh-CN" altLang="en-US" sz="1600" i="1" dirty="0">
                  <a:latin typeface="黑体" panose="02010609060101010101" pitchFamily="49" charset="-122"/>
                  <a:ea typeface="黑体" panose="02010609060101010101" pitchFamily="49" charset="-122"/>
                </a:rPr>
                <a:t>实际上等价于一个单层的</a:t>
              </a:r>
              <a:r>
                <a:rPr lang="en-US" altLang="zh-CN" sz="1600" i="1" dirty="0">
                  <a:latin typeface="黑体" panose="02010609060101010101" pitchFamily="49" charset="-122"/>
                  <a:ea typeface="黑体" panose="02010609060101010101" pitchFamily="49" charset="-122"/>
                </a:rPr>
                <a:t>RBF</a:t>
              </a:r>
              <a:r>
                <a:rPr lang="zh-CN" altLang="en-US" sz="1600" i="1" dirty="0">
                  <a:latin typeface="黑体" panose="02010609060101010101" pitchFamily="49" charset="-122"/>
                  <a:ea typeface="黑体" panose="02010609060101010101" pitchFamily="49" charset="-122"/>
                </a:rPr>
                <a:t>神经网络，而后者处理复杂问题的能力相对有限。</a:t>
              </a:r>
            </a:p>
          </p:txBody>
        </p:sp>
      </p:grpSp>
      <p:grpSp>
        <p:nvGrpSpPr>
          <p:cNvPr id="4" name="组合 3">
            <a:extLst>
              <a:ext uri="{FF2B5EF4-FFF2-40B4-BE49-F238E27FC236}">
                <a16:creationId xmlns:a16="http://schemas.microsoft.com/office/drawing/2014/main" id="{779F544D-E28D-1DEE-6EF1-300C5D76DBFB}"/>
              </a:ext>
            </a:extLst>
          </p:cNvPr>
          <p:cNvGrpSpPr/>
          <p:nvPr/>
        </p:nvGrpSpPr>
        <p:grpSpPr>
          <a:xfrm>
            <a:off x="7583559" y="217488"/>
            <a:ext cx="3996684" cy="3184096"/>
            <a:chOff x="7583559" y="217488"/>
            <a:chExt cx="3996684" cy="3184096"/>
          </a:xfrm>
        </p:grpSpPr>
        <p:pic>
          <p:nvPicPr>
            <p:cNvPr id="8" name="图片 7">
              <a:extLst>
                <a:ext uri="{FF2B5EF4-FFF2-40B4-BE49-F238E27FC236}">
                  <a16:creationId xmlns:a16="http://schemas.microsoft.com/office/drawing/2014/main" id="{A19CF720-3EBE-E00E-577D-BF127B3F078C}"/>
                </a:ext>
              </a:extLst>
            </p:cNvPr>
            <p:cNvPicPr>
              <a:picLocks noChangeAspect="1"/>
            </p:cNvPicPr>
            <p:nvPr/>
          </p:nvPicPr>
          <p:blipFill>
            <a:blip r:embed="rId4">
              <a:extLst>
                <a:ext uri="{28A0092B-C50C-407E-A947-70E740481C1C}">
                  <a14:useLocalDpi xmlns:a14="http://schemas.microsoft.com/office/drawing/2010/main" val="0"/>
                </a:ext>
              </a:extLst>
            </a:blip>
            <a:srcRect l="-5408" t="-3260" r="-7116" b="-2836"/>
            <a:stretch/>
          </p:blipFill>
          <p:spPr>
            <a:xfrm>
              <a:off x="7836481" y="217488"/>
              <a:ext cx="3490840" cy="2946400"/>
            </a:xfrm>
            <a:prstGeom prst="rect">
              <a:avLst/>
            </a:prstGeom>
            <a:ln>
              <a:noFill/>
            </a:ln>
            <a:effectLst>
              <a:softEdge rad="12700"/>
            </a:effectLst>
          </p:spPr>
        </p:pic>
        <p:sp>
          <p:nvSpPr>
            <p:cNvPr id="9" name="文本框 8">
              <a:extLst>
                <a:ext uri="{FF2B5EF4-FFF2-40B4-BE49-F238E27FC236}">
                  <a16:creationId xmlns:a16="http://schemas.microsoft.com/office/drawing/2014/main" id="{219CEADA-A2C7-7CC6-D149-32AC59BDDA27}"/>
                </a:ext>
              </a:extLst>
            </p:cNvPr>
            <p:cNvSpPr txBox="1"/>
            <p:nvPr/>
          </p:nvSpPr>
          <p:spPr>
            <a:xfrm>
              <a:off x="7583559" y="3063030"/>
              <a:ext cx="3996684" cy="338554"/>
            </a:xfrm>
            <a:prstGeom prst="rect">
              <a:avLst/>
            </a:prstGeom>
            <a:noFill/>
          </p:spPr>
          <p:txBody>
            <a:bodyPr wrap="square" rtlCol="0">
              <a:spAutoFit/>
            </a:bodyPr>
            <a:lstStyle/>
            <a:p>
              <a:pPr algn="ctr"/>
              <a:r>
                <a:rPr lang="zh-CN" altLang="en-US" sz="1600" i="1" dirty="0">
                  <a:latin typeface="黑体" panose="02010609060101010101" pitchFamily="49" charset="-122"/>
                  <a:ea typeface="黑体" panose="02010609060101010101" pitchFamily="49" charset="-122"/>
                </a:rPr>
                <a:t>网格搜索方法调参较为耗时</a:t>
              </a:r>
            </a:p>
          </p:txBody>
        </p:sp>
      </p:grpSp>
    </p:spTree>
    <p:extLst>
      <p:ext uri="{BB962C8B-B14F-4D97-AF65-F5344CB8AC3E}">
        <p14:creationId xmlns:p14="http://schemas.microsoft.com/office/powerpoint/2010/main" val="834710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59D67B-76D1-846F-DD9C-C84B4A20A228}"/>
              </a:ext>
            </a:extLst>
          </p:cNvPr>
          <p:cNvSpPr>
            <a:spLocks noGrp="1"/>
          </p:cNvSpPr>
          <p:nvPr>
            <p:ph type="title"/>
          </p:nvPr>
        </p:nvSpPr>
        <p:spPr>
          <a:xfrm>
            <a:off x="1142400" y="0"/>
            <a:ext cx="9907200" cy="1325563"/>
          </a:xfrm>
        </p:spPr>
        <p:txBody>
          <a:bodyPr/>
          <a:lstStyle/>
          <a:p>
            <a:r>
              <a:rPr lang="en-US" altLang="zh-CN" dirty="0">
                <a:latin typeface="Times New Roman" panose="02020603050405020304" pitchFamily="18" charset="0"/>
                <a:ea typeface="黑体" panose="02010609060101010101" pitchFamily="49" charset="-122"/>
                <a:cs typeface="Times New Roman" panose="02020603050405020304" pitchFamily="18" charset="0"/>
              </a:rPr>
              <a:t>NOA-SVM</a:t>
            </a:r>
            <a:r>
              <a:rPr lang="zh-CN" altLang="en-US" dirty="0">
                <a:latin typeface="Times New Roman" panose="02020603050405020304" pitchFamily="18" charset="0"/>
                <a:ea typeface="黑体" panose="02010609060101010101" pitchFamily="49" charset="-122"/>
                <a:cs typeface="Times New Roman" panose="02020603050405020304" pitchFamily="18" charset="0"/>
              </a:rPr>
              <a:t>算法介绍</a:t>
            </a:r>
          </a:p>
        </p:txBody>
      </p:sp>
      <p:sp>
        <p:nvSpPr>
          <p:cNvPr id="3" name="内容占位符 2">
            <a:extLst>
              <a:ext uri="{FF2B5EF4-FFF2-40B4-BE49-F238E27FC236}">
                <a16:creationId xmlns:a16="http://schemas.microsoft.com/office/drawing/2014/main" id="{F96E9A50-E864-18C6-39D0-4675753D691F}"/>
              </a:ext>
            </a:extLst>
          </p:cNvPr>
          <p:cNvSpPr>
            <a:spLocks noGrp="1"/>
          </p:cNvSpPr>
          <p:nvPr>
            <p:ph idx="1"/>
          </p:nvPr>
        </p:nvSpPr>
        <p:spPr>
          <a:xfrm>
            <a:off x="669899" y="1366660"/>
            <a:ext cx="6474041" cy="4351338"/>
          </a:xfrm>
        </p:spPr>
        <p:txBody>
          <a:bodyPr>
            <a:noAutofit/>
          </a:bodyPr>
          <a:lstStyle/>
          <a:p>
            <a:r>
              <a:rPr lang="en-US" altLang="zh-CN" sz="2000" dirty="0">
                <a:effectLst/>
                <a:latin typeface="Times New Roman" panose="02020603050405020304" pitchFamily="18" charset="0"/>
                <a:ea typeface="黑体" panose="02010609060101010101" pitchFamily="49" charset="-122"/>
                <a:cs typeface="Times New Roman" panose="02020603050405020304" pitchFamily="18" charset="0"/>
              </a:rPr>
              <a:t>NOA-SVM</a:t>
            </a:r>
            <a:r>
              <a:rPr lang="zh-CN" altLang="en-US" sz="2000" dirty="0">
                <a:effectLst/>
                <a:latin typeface="Times New Roman" panose="02020603050405020304" pitchFamily="18" charset="0"/>
                <a:ea typeface="黑体" panose="02010609060101010101" pitchFamily="49" charset="-122"/>
                <a:cs typeface="Times New Roman" panose="02020603050405020304" pitchFamily="18" charset="0"/>
              </a:rPr>
              <a:t>的核心是</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通过启发式算法</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NOA</a:t>
            </a:r>
            <a:r>
              <a:rPr lang="zh-CN" altLang="en-US" sz="2000" dirty="0">
                <a:effectLst/>
                <a:latin typeface="Times New Roman" panose="02020603050405020304" pitchFamily="18" charset="0"/>
                <a:ea typeface="黑体" panose="02010609060101010101" pitchFamily="49" charset="-122"/>
                <a:cs typeface="Times New Roman" panose="02020603050405020304" pitchFamily="18" charset="0"/>
              </a:rPr>
              <a:t>优化</a:t>
            </a:r>
            <a:r>
              <a:rPr lang="en-US" altLang="zh-CN" sz="2000" dirty="0">
                <a:effectLst/>
                <a:latin typeface="Times New Roman" panose="02020603050405020304" pitchFamily="18" charset="0"/>
                <a:ea typeface="黑体" panose="02010609060101010101" pitchFamily="49" charset="-122"/>
                <a:cs typeface="Times New Roman" panose="02020603050405020304" pitchFamily="18" charset="0"/>
              </a:rPr>
              <a:t>SVM</a:t>
            </a:r>
            <a:r>
              <a:rPr lang="zh-CN" altLang="en-US" sz="2000" dirty="0">
                <a:effectLst/>
                <a:latin typeface="Times New Roman" panose="02020603050405020304" pitchFamily="18" charset="0"/>
                <a:ea typeface="黑体" panose="02010609060101010101" pitchFamily="49" charset="-122"/>
                <a:cs typeface="Times New Roman" panose="02020603050405020304" pitchFamily="18" charset="0"/>
              </a:rPr>
              <a:t>中的以下两类参数：</a:t>
            </a:r>
            <a:endParaRPr lang="en-US" altLang="zh-CN" sz="2000" dirty="0">
              <a:effectLst/>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000" dirty="0">
                <a:effectLst/>
                <a:latin typeface="Times New Roman" panose="02020603050405020304" pitchFamily="18" charset="0"/>
                <a:ea typeface="黑体" panose="02010609060101010101" pitchFamily="49" charset="-122"/>
                <a:cs typeface="Times New Roman" panose="02020603050405020304" pitchFamily="18" charset="0"/>
              </a:rPr>
              <a:t>1.SVM</a:t>
            </a:r>
            <a:r>
              <a:rPr lang="zh-CN" altLang="en-US" sz="2000" dirty="0">
                <a:effectLst/>
                <a:latin typeface="Times New Roman" panose="02020603050405020304" pitchFamily="18" charset="0"/>
                <a:ea typeface="黑体" panose="02010609060101010101" pitchFamily="49" charset="-122"/>
                <a:cs typeface="Times New Roman" panose="02020603050405020304" pitchFamily="18" charset="0"/>
              </a:rPr>
              <a:t>的关键参数：包括径向基核函数中的参数𝛾和软间隔参数𝐶。</a:t>
            </a:r>
            <a:endParaRPr lang="en-US" altLang="zh-CN" sz="2000" dirty="0">
              <a:effectLst/>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000" dirty="0">
                <a:effectLst/>
                <a:latin typeface="Times New Roman" panose="02020603050405020304" pitchFamily="18" charset="0"/>
                <a:ea typeface="黑体" panose="02010609060101010101" pitchFamily="49" charset="-122"/>
                <a:cs typeface="Times New Roman" panose="02020603050405020304" pitchFamily="18" charset="0"/>
              </a:rPr>
              <a:t>2.</a:t>
            </a:r>
            <a:r>
              <a:rPr lang="zh-CN" altLang="en-US" sz="2000" dirty="0">
                <a:effectLst/>
                <a:latin typeface="Times New Roman" panose="02020603050405020304" pitchFamily="18" charset="0"/>
                <a:ea typeface="黑体" panose="02010609060101010101" pitchFamily="49" charset="-122"/>
                <a:cs typeface="Times New Roman" panose="02020603050405020304" pitchFamily="18" charset="0"/>
              </a:rPr>
              <a:t>特征加权系数</a:t>
            </a:r>
            <a:r>
              <a:rPr lang="en-US" altLang="zh-CN" sz="2000" i="1" dirty="0">
                <a:effectLst/>
                <a:latin typeface="Times New Roman" panose="02020603050405020304" pitchFamily="18" charset="0"/>
                <a:ea typeface="黑体" panose="02010609060101010101" pitchFamily="49" charset="-122"/>
                <a:cs typeface="Times New Roman" panose="02020603050405020304" pitchFamily="18" charset="0"/>
              </a:rPr>
              <a:t>W</a:t>
            </a:r>
            <a:r>
              <a:rPr lang="zh-CN" altLang="en-US" sz="2000" dirty="0">
                <a:effectLst/>
                <a:latin typeface="Times New Roman" panose="02020603050405020304" pitchFamily="18" charset="0"/>
                <a:ea typeface="黑体" panose="02010609060101010101" pitchFamily="49" charset="-122"/>
                <a:cs typeface="Times New Roman" panose="02020603050405020304" pitchFamily="18" charset="0"/>
              </a:rPr>
              <a:t>：用于对不同的特征进行加权，以区分特征的重要性。</a:t>
            </a:r>
            <a:endParaRPr lang="en-US" altLang="zh-CN" sz="2000" dirty="0">
              <a:effectLst/>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000" dirty="0">
                <a:effectLst/>
                <a:latin typeface="Times New Roman" panose="02020603050405020304" pitchFamily="18" charset="0"/>
                <a:ea typeface="黑体" panose="02010609060101010101" pitchFamily="49" charset="-122"/>
                <a:cs typeface="Times New Roman" panose="02020603050405020304" pitchFamily="18" charset="0"/>
              </a:rPr>
              <a:t>NOA-</a:t>
            </a:r>
            <a:r>
              <a:rPr lang="en-US" altLang="zh-CN" sz="2000" dirty="0" err="1">
                <a:effectLst/>
                <a:latin typeface="Times New Roman" panose="02020603050405020304" pitchFamily="18" charset="0"/>
                <a:ea typeface="黑体" panose="02010609060101010101" pitchFamily="49" charset="-122"/>
                <a:cs typeface="Times New Roman" panose="02020603050405020304" pitchFamily="18" charset="0"/>
              </a:rPr>
              <a:t>SVM</a:t>
            </a:r>
            <a:r>
              <a:rPr lang="zh-CN" altLang="en-US" sz="2000" dirty="0">
                <a:effectLst/>
                <a:latin typeface="Times New Roman" panose="02020603050405020304" pitchFamily="18" charset="0"/>
                <a:ea typeface="黑体" panose="02010609060101010101" pitchFamily="49" charset="-122"/>
                <a:cs typeface="Times New Roman" panose="02020603050405020304" pitchFamily="18" charset="0"/>
              </a:rPr>
              <a:t>的优点：</a:t>
            </a:r>
            <a:endParaRPr lang="en-US" altLang="zh-CN" sz="2000" dirty="0">
              <a:effectLst/>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000" dirty="0">
                <a:effectLst/>
                <a:latin typeface="Times New Roman" panose="02020603050405020304" pitchFamily="18" charset="0"/>
                <a:ea typeface="黑体" panose="02010609060101010101" pitchFamily="49" charset="-122"/>
                <a:cs typeface="Times New Roman" panose="02020603050405020304" pitchFamily="18" charset="0"/>
              </a:rPr>
              <a:t>1</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dirty="0">
                <a:effectLst/>
                <a:latin typeface="Times New Roman" panose="02020603050405020304" pitchFamily="18" charset="0"/>
                <a:ea typeface="黑体" panose="02010609060101010101" pitchFamily="49" charset="-122"/>
                <a:cs typeface="Times New Roman" panose="02020603050405020304" pitchFamily="18" charset="0"/>
              </a:rPr>
              <a:t>通过启发式算法引导的参数优化，调参的复杂度大大降低。</a:t>
            </a:r>
            <a:endParaRPr lang="en-US" altLang="zh-CN" sz="2000" dirty="0">
              <a:effectLst/>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000" dirty="0">
                <a:effectLst/>
                <a:latin typeface="Times New Roman" panose="02020603050405020304" pitchFamily="18" charset="0"/>
                <a:ea typeface="黑体" panose="02010609060101010101" pitchFamily="49" charset="-122"/>
                <a:cs typeface="Times New Roman" panose="02020603050405020304" pitchFamily="18" charset="0"/>
              </a:rPr>
              <a:t>2.</a:t>
            </a:r>
            <a:r>
              <a:rPr lang="zh-CN" altLang="en-US" sz="2000" dirty="0">
                <a:effectLst/>
                <a:latin typeface="Times New Roman" panose="02020603050405020304" pitchFamily="18" charset="0"/>
                <a:ea typeface="黑体" panose="02010609060101010101" pitchFamily="49" charset="-122"/>
                <a:cs typeface="Times New Roman" panose="02020603050405020304" pitchFamily="18" charset="0"/>
              </a:rPr>
              <a:t>通过特征加权，使得</a:t>
            </a:r>
            <a:r>
              <a:rPr lang="en-US" altLang="zh-CN" sz="2000" dirty="0">
                <a:effectLst/>
                <a:latin typeface="Times New Roman" panose="02020603050405020304" pitchFamily="18" charset="0"/>
                <a:ea typeface="黑体" panose="02010609060101010101" pitchFamily="49" charset="-122"/>
                <a:cs typeface="Times New Roman" panose="02020603050405020304" pitchFamily="18" charset="0"/>
              </a:rPr>
              <a:t>SVM</a:t>
            </a:r>
            <a:r>
              <a:rPr lang="zh-CN" altLang="en-US" sz="2000" dirty="0">
                <a:effectLst/>
                <a:latin typeface="Times New Roman" panose="02020603050405020304" pitchFamily="18" charset="0"/>
                <a:ea typeface="黑体" panose="02010609060101010101" pitchFamily="49" charset="-122"/>
                <a:cs typeface="Times New Roman" panose="02020603050405020304" pitchFamily="18" charset="0"/>
              </a:rPr>
              <a:t>对不同的特征拥有不同的权重，在优化过程中，那些更加重要的特征会获得更大的间隔。</a:t>
            </a:r>
          </a:p>
        </p:txBody>
      </p:sp>
      <p:sp>
        <p:nvSpPr>
          <p:cNvPr id="5" name="文本框 4">
            <a:extLst>
              <a:ext uri="{FF2B5EF4-FFF2-40B4-BE49-F238E27FC236}">
                <a16:creationId xmlns:a16="http://schemas.microsoft.com/office/drawing/2014/main" id="{3E7BF142-5842-9FD3-6EC9-897C14B62E9C}"/>
              </a:ext>
            </a:extLst>
          </p:cNvPr>
          <p:cNvSpPr txBox="1"/>
          <p:nvPr/>
        </p:nvSpPr>
        <p:spPr>
          <a:xfrm flipH="1">
            <a:off x="1142400" y="823401"/>
            <a:ext cx="6104465" cy="430887"/>
          </a:xfrm>
          <a:prstGeom prst="rect">
            <a:avLst/>
          </a:prstGeom>
          <a:noFill/>
        </p:spPr>
        <p:txBody>
          <a:bodyPr wrap="square" rtlCol="0">
            <a:spAutoFit/>
          </a:bodyPr>
          <a:lstStyle/>
          <a:p>
            <a:r>
              <a:rPr lang="en-US" altLang="zh-CN" sz="22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200" dirty="0">
                <a:effectLst/>
                <a:latin typeface="Times New Roman" panose="02020603050405020304" pitchFamily="18" charset="0"/>
                <a:ea typeface="宋体" panose="02010600030101010101" pitchFamily="2" charset="-122"/>
                <a:cs typeface="Times New Roman" panose="02020603050405020304" pitchFamily="18" charset="0"/>
              </a:rPr>
              <a:t>一种基于启发式算法优化</a:t>
            </a:r>
            <a:r>
              <a:rPr lang="en-US" altLang="zh-CN" sz="2200" dirty="0">
                <a:effectLst/>
                <a:latin typeface="Times New Roman" panose="02020603050405020304" pitchFamily="18" charset="0"/>
                <a:ea typeface="宋体" panose="02010600030101010101" pitchFamily="2" charset="-122"/>
              </a:rPr>
              <a:t>SVM</a:t>
            </a:r>
            <a:r>
              <a:rPr lang="zh-CN" altLang="zh-CN" sz="2200" dirty="0">
                <a:effectLst/>
                <a:latin typeface="Times New Roman" panose="02020603050405020304" pitchFamily="18" charset="0"/>
                <a:ea typeface="宋体" panose="02010600030101010101" pitchFamily="2" charset="-122"/>
                <a:cs typeface="Times New Roman" panose="02020603050405020304" pitchFamily="18" charset="0"/>
              </a:rPr>
              <a:t>的</a:t>
            </a:r>
            <a:r>
              <a:rPr lang="zh-CN" altLang="en-US" sz="2200" dirty="0">
                <a:effectLst/>
                <a:latin typeface="Times New Roman" panose="02020603050405020304" pitchFamily="18" charset="0"/>
                <a:ea typeface="宋体" panose="02010600030101010101" pitchFamily="2" charset="-122"/>
                <a:cs typeface="Times New Roman" panose="02020603050405020304" pitchFamily="18" charset="0"/>
              </a:rPr>
              <a:t>方法</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文本框 9">
            <a:extLst>
              <a:ext uri="{FF2B5EF4-FFF2-40B4-BE49-F238E27FC236}">
                <a16:creationId xmlns:a16="http://schemas.microsoft.com/office/drawing/2014/main" id="{AFEB4CF7-02EA-F6A9-CBFA-84B1604526C5}"/>
              </a:ext>
            </a:extLst>
          </p:cNvPr>
          <p:cNvSpPr txBox="1"/>
          <p:nvPr/>
        </p:nvSpPr>
        <p:spPr>
          <a:xfrm>
            <a:off x="8115451" y="5470587"/>
            <a:ext cx="2637208" cy="369332"/>
          </a:xfrm>
          <a:prstGeom prst="rect">
            <a:avLst/>
          </a:prstGeom>
          <a:noFill/>
        </p:spPr>
        <p:txBody>
          <a:bodyPr wrap="square" rtlCol="0">
            <a:spAutoFit/>
          </a:bodyPr>
          <a:lstStyle/>
          <a:p>
            <a:pPr algn="ctr"/>
            <a:r>
              <a:rPr lang="en-US" altLang="zh-CN" i="1" dirty="0">
                <a:latin typeface="黑体" panose="02010609060101010101" pitchFamily="49" charset="-122"/>
              </a:rPr>
              <a:t>NOA-SVM</a:t>
            </a:r>
            <a:r>
              <a:rPr lang="zh-CN" altLang="en-US" i="1" dirty="0">
                <a:latin typeface="黑体" panose="02010609060101010101" pitchFamily="49" charset="-122"/>
              </a:rPr>
              <a:t>的编码方案</a:t>
            </a:r>
          </a:p>
        </p:txBody>
      </p:sp>
      <p:grpSp>
        <p:nvGrpSpPr>
          <p:cNvPr id="19" name="组合 18">
            <a:extLst>
              <a:ext uri="{FF2B5EF4-FFF2-40B4-BE49-F238E27FC236}">
                <a16:creationId xmlns:a16="http://schemas.microsoft.com/office/drawing/2014/main" id="{15C57801-FD82-E6DE-600E-EF534BEBE42E}"/>
              </a:ext>
            </a:extLst>
          </p:cNvPr>
          <p:cNvGrpSpPr/>
          <p:nvPr/>
        </p:nvGrpSpPr>
        <p:grpSpPr>
          <a:xfrm>
            <a:off x="7346009" y="1038845"/>
            <a:ext cx="4176092" cy="908554"/>
            <a:chOff x="7346009" y="717020"/>
            <a:chExt cx="4176092" cy="908554"/>
          </a:xfrm>
        </p:grpSpPr>
        <p:graphicFrame>
          <p:nvGraphicFramePr>
            <p:cNvPr id="15" name="对象 14">
              <a:extLst>
                <a:ext uri="{FF2B5EF4-FFF2-40B4-BE49-F238E27FC236}">
                  <a16:creationId xmlns:a16="http://schemas.microsoft.com/office/drawing/2014/main" id="{B33FFD19-DCD0-9C44-8FE8-8BFD0C88A069}"/>
                </a:ext>
              </a:extLst>
            </p:cNvPr>
            <p:cNvGraphicFramePr>
              <a:graphicFrameLocks noChangeAspect="1"/>
            </p:cNvGraphicFramePr>
            <p:nvPr>
              <p:extLst>
                <p:ext uri="{D42A27DB-BD31-4B8C-83A1-F6EECF244321}">
                  <p14:modId xmlns:p14="http://schemas.microsoft.com/office/powerpoint/2010/main" val="1935338443"/>
                </p:ext>
              </p:extLst>
            </p:nvPr>
          </p:nvGraphicFramePr>
          <p:xfrm>
            <a:off x="7346009" y="717020"/>
            <a:ext cx="4176092" cy="540000"/>
          </p:xfrm>
          <a:graphic>
            <a:graphicData uri="http://schemas.openxmlformats.org/presentationml/2006/ole">
              <mc:AlternateContent xmlns:mc="http://schemas.openxmlformats.org/markup-compatibility/2006">
                <mc:Choice xmlns:v="urn:schemas-microsoft-com:vml" Requires="v">
                  <p:oleObj name="Equation" r:id="rId3" imgW="1866600" imgH="241200" progId="Equation.DSMT4">
                    <p:embed/>
                  </p:oleObj>
                </mc:Choice>
                <mc:Fallback>
                  <p:oleObj name="Equation" r:id="rId3" imgW="1866600" imgH="241200" progId="Equation.DSMT4">
                    <p:embed/>
                    <p:pic>
                      <p:nvPicPr>
                        <p:cNvPr id="0" name=""/>
                        <p:cNvPicPr/>
                        <p:nvPr/>
                      </p:nvPicPr>
                      <p:blipFill>
                        <a:blip r:embed="rId4"/>
                        <a:stretch>
                          <a:fillRect/>
                        </a:stretch>
                      </p:blipFill>
                      <p:spPr>
                        <a:xfrm>
                          <a:off x="7346009" y="717020"/>
                          <a:ext cx="4176092" cy="540000"/>
                        </a:xfrm>
                        <a:prstGeom prst="rect">
                          <a:avLst/>
                        </a:prstGeom>
                      </p:spPr>
                    </p:pic>
                  </p:oleObj>
                </mc:Fallback>
              </mc:AlternateContent>
            </a:graphicData>
          </a:graphic>
        </p:graphicFrame>
        <p:sp>
          <p:nvSpPr>
            <p:cNvPr id="16" name="文本框 15">
              <a:extLst>
                <a:ext uri="{FF2B5EF4-FFF2-40B4-BE49-F238E27FC236}">
                  <a16:creationId xmlns:a16="http://schemas.microsoft.com/office/drawing/2014/main" id="{8D29D0BF-3F22-3356-788D-87B1E861FCCD}"/>
                </a:ext>
              </a:extLst>
            </p:cNvPr>
            <p:cNvSpPr txBox="1"/>
            <p:nvPr/>
          </p:nvSpPr>
          <p:spPr>
            <a:xfrm>
              <a:off x="7611788" y="1256242"/>
              <a:ext cx="3644534" cy="369332"/>
            </a:xfrm>
            <a:prstGeom prst="rect">
              <a:avLst/>
            </a:prstGeom>
            <a:noFill/>
          </p:spPr>
          <p:txBody>
            <a:bodyPr wrap="square" rtlCol="0">
              <a:spAutoFit/>
            </a:bodyPr>
            <a:lstStyle/>
            <a:p>
              <a:pPr algn="ctr"/>
              <a:r>
                <a:rPr lang="en-US" altLang="zh-CN" i="1" dirty="0">
                  <a:latin typeface="黑体" panose="02010609060101010101" pitchFamily="49" charset="-122"/>
                </a:rPr>
                <a:t>NOA-SVM</a:t>
              </a:r>
              <a:r>
                <a:rPr lang="zh-CN" altLang="en-US" i="1" dirty="0">
                  <a:latin typeface="黑体" panose="02010609060101010101" pitchFamily="49" charset="-122"/>
                </a:rPr>
                <a:t>采用的径向基核函数</a:t>
              </a:r>
            </a:p>
          </p:txBody>
        </p:sp>
      </p:grpSp>
      <p:grpSp>
        <p:nvGrpSpPr>
          <p:cNvPr id="20" name="组合 19">
            <a:extLst>
              <a:ext uri="{FF2B5EF4-FFF2-40B4-BE49-F238E27FC236}">
                <a16:creationId xmlns:a16="http://schemas.microsoft.com/office/drawing/2014/main" id="{C0F94AE5-DB72-CE40-2CC4-9DD6198D4023}"/>
              </a:ext>
            </a:extLst>
          </p:cNvPr>
          <p:cNvGrpSpPr/>
          <p:nvPr/>
        </p:nvGrpSpPr>
        <p:grpSpPr>
          <a:xfrm>
            <a:off x="7611788" y="2615320"/>
            <a:ext cx="3644534" cy="1460960"/>
            <a:chOff x="7611787" y="2401669"/>
            <a:chExt cx="3644534" cy="1460960"/>
          </a:xfrm>
        </p:grpSpPr>
        <p:graphicFrame>
          <p:nvGraphicFramePr>
            <p:cNvPr id="17" name="对象 16">
              <a:extLst>
                <a:ext uri="{FF2B5EF4-FFF2-40B4-BE49-F238E27FC236}">
                  <a16:creationId xmlns:a16="http://schemas.microsoft.com/office/drawing/2014/main" id="{75DDD0F1-8322-BF8A-C7FE-1DA07C9499DD}"/>
                </a:ext>
              </a:extLst>
            </p:cNvPr>
            <p:cNvGraphicFramePr>
              <a:graphicFrameLocks noChangeAspect="1"/>
            </p:cNvGraphicFramePr>
            <p:nvPr>
              <p:extLst>
                <p:ext uri="{D42A27DB-BD31-4B8C-83A1-F6EECF244321}">
                  <p14:modId xmlns:p14="http://schemas.microsoft.com/office/powerpoint/2010/main" val="4098401749"/>
                </p:ext>
              </p:extLst>
            </p:nvPr>
          </p:nvGraphicFramePr>
          <p:xfrm>
            <a:off x="7893466" y="2401669"/>
            <a:ext cx="3081177" cy="1080000"/>
          </p:xfrm>
          <a:graphic>
            <a:graphicData uri="http://schemas.openxmlformats.org/presentationml/2006/ole">
              <mc:AlternateContent xmlns:mc="http://schemas.openxmlformats.org/markup-compatibility/2006">
                <mc:Choice xmlns:v="urn:schemas-microsoft-com:vml" Requires="v">
                  <p:oleObj name="Equation" r:id="rId5" imgW="1231560" imgH="431640" progId="Equation.DSMT4">
                    <p:embed/>
                  </p:oleObj>
                </mc:Choice>
                <mc:Fallback>
                  <p:oleObj name="Equation" r:id="rId5" imgW="1231560" imgH="431640" progId="Equation.DSMT4">
                    <p:embed/>
                    <p:pic>
                      <p:nvPicPr>
                        <p:cNvPr id="0" name=""/>
                        <p:cNvPicPr/>
                        <p:nvPr/>
                      </p:nvPicPr>
                      <p:blipFill>
                        <a:blip r:embed="rId6"/>
                        <a:stretch>
                          <a:fillRect/>
                        </a:stretch>
                      </p:blipFill>
                      <p:spPr>
                        <a:xfrm>
                          <a:off x="7893466" y="2401669"/>
                          <a:ext cx="3081177" cy="1080000"/>
                        </a:xfrm>
                        <a:prstGeom prst="rect">
                          <a:avLst/>
                        </a:prstGeom>
                      </p:spPr>
                    </p:pic>
                  </p:oleObj>
                </mc:Fallback>
              </mc:AlternateContent>
            </a:graphicData>
          </a:graphic>
        </p:graphicFrame>
        <p:sp>
          <p:nvSpPr>
            <p:cNvPr id="18" name="文本框 17">
              <a:extLst>
                <a:ext uri="{FF2B5EF4-FFF2-40B4-BE49-F238E27FC236}">
                  <a16:creationId xmlns:a16="http://schemas.microsoft.com/office/drawing/2014/main" id="{2844731C-A240-A148-369B-850131068D74}"/>
                </a:ext>
              </a:extLst>
            </p:cNvPr>
            <p:cNvSpPr txBox="1"/>
            <p:nvPr/>
          </p:nvSpPr>
          <p:spPr>
            <a:xfrm>
              <a:off x="7611787" y="3493297"/>
              <a:ext cx="3644534" cy="369332"/>
            </a:xfrm>
            <a:prstGeom prst="rect">
              <a:avLst/>
            </a:prstGeom>
            <a:noFill/>
          </p:spPr>
          <p:txBody>
            <a:bodyPr wrap="square" rtlCol="0">
              <a:spAutoFit/>
            </a:bodyPr>
            <a:lstStyle/>
            <a:p>
              <a:pPr algn="ctr"/>
              <a:r>
                <a:rPr lang="en-US" altLang="zh-CN" i="1" dirty="0">
                  <a:latin typeface="黑体" panose="02010609060101010101" pitchFamily="49" charset="-122"/>
                </a:rPr>
                <a:t>NOA-SVM</a:t>
              </a:r>
              <a:r>
                <a:rPr lang="zh-CN" altLang="en-US" i="1" dirty="0">
                  <a:latin typeface="黑体" panose="02010609060101010101" pitchFamily="49" charset="-122"/>
                </a:rPr>
                <a:t>采用的软间隔目标公式</a:t>
              </a:r>
            </a:p>
          </p:txBody>
        </p:sp>
      </p:grpSp>
      <p:pic>
        <p:nvPicPr>
          <p:cNvPr id="6" name="图片 5">
            <a:extLst>
              <a:ext uri="{FF2B5EF4-FFF2-40B4-BE49-F238E27FC236}">
                <a16:creationId xmlns:a16="http://schemas.microsoft.com/office/drawing/2014/main" id="{974B3870-D26A-9E4B-078F-AFB16CA5FC4A}"/>
              </a:ext>
            </a:extLst>
          </p:cNvPr>
          <p:cNvPicPr>
            <a:picLocks noChangeAspect="1"/>
          </p:cNvPicPr>
          <p:nvPr/>
        </p:nvPicPr>
        <p:blipFill>
          <a:blip r:embed="rId7"/>
          <a:stretch>
            <a:fillRect/>
          </a:stretch>
        </p:blipFill>
        <p:spPr>
          <a:xfrm>
            <a:off x="7711935" y="4910602"/>
            <a:ext cx="3444240" cy="693420"/>
          </a:xfrm>
          <a:prstGeom prst="rect">
            <a:avLst/>
          </a:prstGeom>
        </p:spPr>
      </p:pic>
    </p:spTree>
    <p:extLst>
      <p:ext uri="{BB962C8B-B14F-4D97-AF65-F5344CB8AC3E}">
        <p14:creationId xmlns:p14="http://schemas.microsoft.com/office/powerpoint/2010/main" val="1843495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360410-E23E-4EF7-F155-87864ADD7E2A}"/>
              </a:ext>
            </a:extLst>
          </p:cNvPr>
          <p:cNvSpPr>
            <a:spLocks noGrp="1"/>
          </p:cNvSpPr>
          <p:nvPr>
            <p:ph type="title"/>
          </p:nvPr>
        </p:nvSpPr>
        <p:spPr>
          <a:xfrm>
            <a:off x="1141413" y="0"/>
            <a:ext cx="9905998" cy="1478570"/>
          </a:xfrm>
        </p:spPr>
        <p:txBody>
          <a:bodyPr/>
          <a:lstStyle/>
          <a:p>
            <a:r>
              <a:rPr lang="en-US" altLang="zh-CN" dirty="0">
                <a:latin typeface="Times New Roman" panose="02020603050405020304" pitchFamily="18" charset="0"/>
                <a:cs typeface="Times New Roman" panose="02020603050405020304" pitchFamily="18" charset="0"/>
              </a:rPr>
              <a:t>NOA-SVM</a:t>
            </a:r>
            <a:r>
              <a:rPr lang="zh-CN" altLang="en-US" dirty="0">
                <a:latin typeface="黑体" panose="02010609060101010101" pitchFamily="49" charset="-122"/>
                <a:ea typeface="黑体" panose="02010609060101010101" pitchFamily="49" charset="-122"/>
                <a:cs typeface="Times New Roman" panose="02020603050405020304" pitchFamily="18" charset="0"/>
              </a:rPr>
              <a:t>流程</a:t>
            </a:r>
          </a:p>
        </p:txBody>
      </p:sp>
      <p:sp>
        <p:nvSpPr>
          <p:cNvPr id="3" name="内容占位符 2">
            <a:extLst>
              <a:ext uri="{FF2B5EF4-FFF2-40B4-BE49-F238E27FC236}">
                <a16:creationId xmlns:a16="http://schemas.microsoft.com/office/drawing/2014/main" id="{173D1DDC-D8AC-BDAF-B2D1-473AC848C54C}"/>
              </a:ext>
            </a:extLst>
          </p:cNvPr>
          <p:cNvSpPr>
            <a:spLocks noGrp="1"/>
          </p:cNvSpPr>
          <p:nvPr>
            <p:ph idx="1"/>
          </p:nvPr>
        </p:nvSpPr>
        <p:spPr>
          <a:xfrm>
            <a:off x="838200" y="1207107"/>
            <a:ext cx="5257800" cy="4882408"/>
          </a:xfrm>
        </p:spPr>
        <p:txBody>
          <a:bodyPr>
            <a:noAutofit/>
          </a:bodyPr>
          <a:lstStyle/>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NOA-SVM</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的主要流程即是通过</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NOA</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在参数空间中进行搜索，并通过</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SVM</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将</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NOA</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搜索得出的参数组合进行验证。</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采用算法在验证集上得到的准确率的相反数为适应值。适应值越低说明参数的适配性越好。</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为了优化时间，当某组参数的带来的适应值达到最小值</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时（也就是准确率达到</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时），</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NOA</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会立即结束搜索并返回最优参数。</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7" name="图片 6">
            <a:extLst>
              <a:ext uri="{FF2B5EF4-FFF2-40B4-BE49-F238E27FC236}">
                <a16:creationId xmlns:a16="http://schemas.microsoft.com/office/drawing/2014/main" id="{18077CF0-E1A0-BFF6-CCCC-6EBBA6E6AF9A}"/>
              </a:ext>
            </a:extLst>
          </p:cNvPr>
          <p:cNvPicPr>
            <a:picLocks noChangeAspect="1"/>
          </p:cNvPicPr>
          <p:nvPr/>
        </p:nvPicPr>
        <p:blipFill>
          <a:blip r:embed="rId3"/>
          <a:stretch>
            <a:fillRect/>
          </a:stretch>
        </p:blipFill>
        <p:spPr>
          <a:xfrm>
            <a:off x="6648855" y="1384560"/>
            <a:ext cx="5087972" cy="4088880"/>
          </a:xfrm>
          <a:prstGeom prst="rect">
            <a:avLst/>
          </a:prstGeom>
        </p:spPr>
      </p:pic>
    </p:spTree>
    <p:extLst>
      <p:ext uri="{BB962C8B-B14F-4D97-AF65-F5344CB8AC3E}">
        <p14:creationId xmlns:p14="http://schemas.microsoft.com/office/powerpoint/2010/main" val="1189018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7F395C-19DE-EB97-EC20-102E04D9271B}"/>
              </a:ext>
            </a:extLst>
          </p:cNvPr>
          <p:cNvSpPr>
            <a:spLocks noGrp="1"/>
          </p:cNvSpPr>
          <p:nvPr>
            <p:ph type="title"/>
          </p:nvPr>
        </p:nvSpPr>
        <p:spPr>
          <a:xfrm>
            <a:off x="1143001" y="0"/>
            <a:ext cx="9905998" cy="1478570"/>
          </a:xfrm>
        </p:spPr>
        <p:txBody>
          <a:bodyPr/>
          <a:lstStyle/>
          <a:p>
            <a:r>
              <a:rPr lang="zh-CN" altLang="en-US" dirty="0">
                <a:latin typeface="黑体" panose="02010609060101010101" pitchFamily="49" charset="-122"/>
                <a:ea typeface="黑体" panose="02010609060101010101" pitchFamily="49" charset="-122"/>
              </a:rPr>
              <a:t>多分类问题</a:t>
            </a:r>
          </a:p>
        </p:txBody>
      </p:sp>
      <p:sp>
        <p:nvSpPr>
          <p:cNvPr id="3" name="内容占位符 2">
            <a:extLst>
              <a:ext uri="{FF2B5EF4-FFF2-40B4-BE49-F238E27FC236}">
                <a16:creationId xmlns:a16="http://schemas.microsoft.com/office/drawing/2014/main" id="{571FEEF6-ADE4-4E33-FEF4-E87C7A6BBC1E}"/>
              </a:ext>
            </a:extLst>
          </p:cNvPr>
          <p:cNvSpPr>
            <a:spLocks noGrp="1"/>
          </p:cNvSpPr>
          <p:nvPr>
            <p:ph idx="1"/>
          </p:nvPr>
        </p:nvSpPr>
        <p:spPr>
          <a:xfrm>
            <a:off x="1143001" y="1329412"/>
            <a:ext cx="9905999" cy="3541714"/>
          </a:xfrm>
        </p:spPr>
        <p:txBody>
          <a:bodyPr>
            <a:normAutofit/>
          </a:bodyPr>
          <a:lstStyle/>
          <a:p>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在实施</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NOA-</a:t>
            </a:r>
            <a:r>
              <a:rPr lang="en-US" altLang="zh-CN" sz="2000" dirty="0" err="1">
                <a:latin typeface="Times New Roman" panose="02020603050405020304" pitchFamily="18" charset="0"/>
                <a:ea typeface="黑体" panose="02010609060101010101" pitchFamily="49" charset="-122"/>
                <a:cs typeface="Times New Roman" panose="02020603050405020304" pitchFamily="18" charset="0"/>
              </a:rPr>
              <a:t>SVM</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以处理多分类问题时，本研究采用了</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One-vs-One</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OVO</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）策略。</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具体而言，对于数据集中的每一对类别，算法都训练了一个独立的分类器。此分类器的训练集将只包含这两种类别。在分类过程中，所有分类器都会对样本进行独立判断，并通过投票机制决定最终分类，即选择得票最多的类别作为样本的归类。</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在这里，</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NOA</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会为不同类别进行分类的分类器优化出不同的超参数以及权重，以此更好的解决该分类器面对的问题。</a:t>
            </a:r>
          </a:p>
        </p:txBody>
      </p:sp>
      <p:pic>
        <p:nvPicPr>
          <p:cNvPr id="12" name="图片 11">
            <a:extLst>
              <a:ext uri="{FF2B5EF4-FFF2-40B4-BE49-F238E27FC236}">
                <a16:creationId xmlns:a16="http://schemas.microsoft.com/office/drawing/2014/main" id="{6E585D89-F8DE-82A0-3286-234AFA1DA79C}"/>
              </a:ext>
            </a:extLst>
          </p:cNvPr>
          <p:cNvPicPr>
            <a:picLocks noChangeAspect="1"/>
          </p:cNvPicPr>
          <p:nvPr/>
        </p:nvPicPr>
        <p:blipFill>
          <a:blip r:embed="rId3"/>
          <a:stretch>
            <a:fillRect/>
          </a:stretch>
        </p:blipFill>
        <p:spPr>
          <a:xfrm>
            <a:off x="3200400" y="3441286"/>
            <a:ext cx="6653719" cy="4174603"/>
          </a:xfrm>
          <a:prstGeom prst="rect">
            <a:avLst/>
          </a:prstGeom>
        </p:spPr>
      </p:pic>
    </p:spTree>
    <p:extLst>
      <p:ext uri="{BB962C8B-B14F-4D97-AF65-F5344CB8AC3E}">
        <p14:creationId xmlns:p14="http://schemas.microsoft.com/office/powerpoint/2010/main" val="2019003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EE41F-3425-2723-E15C-E2D63A4304A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F6C67E2-9CFD-29CF-FC66-32AABA3D35EC}"/>
              </a:ext>
            </a:extLst>
          </p:cNvPr>
          <p:cNvSpPr>
            <a:spLocks noGrp="1"/>
          </p:cNvSpPr>
          <p:nvPr>
            <p:ph type="title"/>
          </p:nvPr>
        </p:nvSpPr>
        <p:spPr>
          <a:xfrm>
            <a:off x="1143001" y="0"/>
            <a:ext cx="9905998" cy="1478570"/>
          </a:xfrm>
        </p:spPr>
        <p:txBody>
          <a:bodyPr/>
          <a:lstStyle/>
          <a:p>
            <a:r>
              <a:rPr lang="zh-CN" altLang="en-US" dirty="0">
                <a:latin typeface="黑体" panose="02010609060101010101" pitchFamily="49" charset="-122"/>
                <a:ea typeface="黑体" panose="02010609060101010101" pitchFamily="49" charset="-122"/>
              </a:rPr>
              <a:t>实验设置</a:t>
            </a:r>
          </a:p>
        </p:txBody>
      </p:sp>
      <p:sp>
        <p:nvSpPr>
          <p:cNvPr id="3" name="内容占位符 2">
            <a:extLst>
              <a:ext uri="{FF2B5EF4-FFF2-40B4-BE49-F238E27FC236}">
                <a16:creationId xmlns:a16="http://schemas.microsoft.com/office/drawing/2014/main" id="{9C8593D9-C452-03B9-A1D8-4BE951A93B44}"/>
              </a:ext>
            </a:extLst>
          </p:cNvPr>
          <p:cNvSpPr>
            <a:spLocks noGrp="1"/>
          </p:cNvSpPr>
          <p:nvPr>
            <p:ph idx="1"/>
          </p:nvPr>
        </p:nvSpPr>
        <p:spPr>
          <a:xfrm>
            <a:off x="813620" y="1110642"/>
            <a:ext cx="10963883" cy="5247136"/>
          </a:xfrm>
        </p:spPr>
        <p:txBody>
          <a:bodyPr>
            <a:noAutofit/>
          </a:bodyPr>
          <a:lstStyle/>
          <a:p>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数据预处理</a:t>
            </a:r>
          </a:p>
          <a:p>
            <a:pPr lvl="1"/>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数据打乱：对数据集进行了随机打乱，以此避免数据分布不均匀。</a:t>
            </a:r>
            <a:endParaRPr lang="en-US" altLang="zh-CN" sz="1800" dirty="0">
              <a:latin typeface="Times New Roman" panose="02020603050405020304" pitchFamily="18" charset="0"/>
              <a:ea typeface="黑体" panose="02010609060101010101" pitchFamily="49" charset="-122"/>
              <a:cs typeface="Times New Roman" panose="02020603050405020304" pitchFamily="18" charset="0"/>
            </a:endParaRPr>
          </a:p>
          <a:p>
            <a:pPr lvl="1"/>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标准化：对各属性进行标准化处理，以消除属性量级差异的影响。</a:t>
            </a:r>
            <a:endParaRPr lang="en-US" altLang="zh-CN" sz="1400" dirty="0">
              <a:latin typeface="Times New Roman" panose="02020603050405020304" pitchFamily="18" charset="0"/>
              <a:ea typeface="黑体" panose="02010609060101010101" pitchFamily="49" charset="-122"/>
              <a:cs typeface="Times New Roman" panose="02020603050405020304" pitchFamily="18" charset="0"/>
            </a:endParaRPr>
          </a:p>
          <a:p>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评价方法</a:t>
            </a:r>
          </a:p>
          <a:p>
            <a:pPr lvl="1"/>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验证方式：采用</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10</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次</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10</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折交叉验证，全面评估算法性能。每次采用</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90%</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的数据用于训练集，另外</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10%</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用于测试集。在训练过程中，会有</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20%</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的训练集数据被划分至验证集，用于检测参数的适应值。</a:t>
            </a:r>
          </a:p>
          <a:p>
            <a:pPr lvl="1"/>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多次实验：考虑数据随机性和</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NOA-SVM</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运行的随机性，实验进行了</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10</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次以确保结果可靠。</a:t>
            </a:r>
          </a:p>
          <a:p>
            <a:pPr lvl="1"/>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评价指标：利用准确率、查准率、查全率及</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F1</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分数四项指标进行模型性能评估。由于是多分类任务，我采用了加权的方式计算上述指标。</a:t>
            </a:r>
            <a:endParaRPr lang="en-US" altLang="zh-CN" sz="1800" dirty="0">
              <a:latin typeface="Times New Roman" panose="02020603050405020304" pitchFamily="18" charset="0"/>
              <a:ea typeface="黑体" panose="02010609060101010101" pitchFamily="49" charset="-122"/>
              <a:cs typeface="Times New Roman" panose="02020603050405020304" pitchFamily="18" charset="0"/>
            </a:endParaRPr>
          </a:p>
          <a:p>
            <a:pPr lvl="1"/>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具体计算公式如右上式所示。其中</a:t>
            </a:r>
            <a:r>
              <a:rPr lang="en-US" altLang="zh-CN" sz="1800" i="1" dirty="0" err="1">
                <a:latin typeface="Times New Roman" panose="02020603050405020304" pitchFamily="18" charset="0"/>
                <a:ea typeface="黑体" panose="02010609060101010101" pitchFamily="49" charset="-122"/>
                <a:cs typeface="Times New Roman" panose="02020603050405020304" pitchFamily="18" charset="0"/>
              </a:rPr>
              <a:t>w</a:t>
            </a:r>
            <a:r>
              <a:rPr lang="en-US" altLang="zh-CN" sz="1800" i="1" baseline="-25000" dirty="0" err="1">
                <a:latin typeface="Times New Roman" panose="02020603050405020304" pitchFamily="18" charset="0"/>
                <a:ea typeface="黑体" panose="02010609060101010101" pitchFamily="49" charset="-122"/>
                <a:cs typeface="Times New Roman" panose="02020603050405020304" pitchFamily="18" charset="0"/>
              </a:rPr>
              <a:t>k</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代表第</a:t>
            </a:r>
            <a:r>
              <a:rPr lang="en-US" altLang="zh-CN" sz="1800" i="1" dirty="0">
                <a:latin typeface="Times New Roman" panose="02020603050405020304" pitchFamily="18" charset="0"/>
                <a:ea typeface="黑体" panose="02010609060101010101" pitchFamily="49" charset="-122"/>
                <a:cs typeface="Times New Roman" panose="02020603050405020304" pitchFamily="18" charset="0"/>
              </a:rPr>
              <a:t>k</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个类别的样本数，</a:t>
            </a:r>
            <a:r>
              <a:rPr lang="en-US" altLang="zh-CN" sz="1800" i="1" dirty="0">
                <a:latin typeface="Times New Roman" panose="02020603050405020304" pitchFamily="18" charset="0"/>
                <a:ea typeface="黑体" panose="02010609060101010101" pitchFamily="49" charset="-122"/>
                <a:cs typeface="Times New Roman" panose="02020603050405020304" pitchFamily="18" charset="0"/>
              </a:rPr>
              <a:t>W</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代表全部样本数，</a:t>
            </a:r>
            <a:r>
              <a:rPr lang="en-US" altLang="zh-CN" sz="1800" i="1" dirty="0" err="1">
                <a:latin typeface="Times New Roman" panose="02020603050405020304" pitchFamily="18" charset="0"/>
                <a:ea typeface="黑体" panose="02010609060101010101" pitchFamily="49" charset="-122"/>
                <a:cs typeface="Times New Roman" panose="02020603050405020304" pitchFamily="18" charset="0"/>
              </a:rPr>
              <a:t>Precision</a:t>
            </a:r>
            <a:r>
              <a:rPr lang="en-US" altLang="zh-CN" sz="1800" i="1" baseline="-25000" dirty="0" err="1">
                <a:latin typeface="Times New Roman" panose="02020603050405020304" pitchFamily="18" charset="0"/>
                <a:ea typeface="黑体" panose="02010609060101010101" pitchFamily="49" charset="-122"/>
                <a:cs typeface="Times New Roman" panose="02020603050405020304" pitchFamily="18" charset="0"/>
              </a:rPr>
              <a:t>k</a:t>
            </a:r>
            <a:r>
              <a:rPr lang="en-US" altLang="zh-CN" sz="1800" i="1" baseline="-250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1800" i="1" dirty="0" err="1">
                <a:latin typeface="Times New Roman" panose="02020603050405020304" pitchFamily="18" charset="0"/>
                <a:ea typeface="黑体" panose="02010609060101010101" pitchFamily="49" charset="-122"/>
                <a:cs typeface="Times New Roman" panose="02020603050405020304" pitchFamily="18" charset="0"/>
              </a:rPr>
              <a:t>Recall</a:t>
            </a:r>
            <a:r>
              <a:rPr lang="en-US" altLang="zh-CN" sz="1800" i="1" baseline="-25000" dirty="0" err="1">
                <a:latin typeface="Times New Roman" panose="02020603050405020304" pitchFamily="18" charset="0"/>
                <a:ea typeface="黑体" panose="02010609060101010101" pitchFamily="49" charset="-122"/>
                <a:cs typeface="Times New Roman" panose="02020603050405020304" pitchFamily="18" charset="0"/>
              </a:rPr>
              <a:t>k</a:t>
            </a:r>
            <a:r>
              <a:rPr lang="en-US" altLang="zh-CN" sz="1800" i="1" baseline="-250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1800" i="1" dirty="0" err="1">
                <a:latin typeface="Times New Roman" panose="02020603050405020304" pitchFamily="18" charset="0"/>
                <a:ea typeface="黑体" panose="02010609060101010101" pitchFamily="49" charset="-122"/>
                <a:cs typeface="Times New Roman" panose="02020603050405020304" pitchFamily="18" charset="0"/>
              </a:rPr>
              <a:t>F1</a:t>
            </a:r>
            <a:r>
              <a:rPr lang="en-US" altLang="zh-CN" sz="1800" i="1" baseline="-25000" dirty="0" err="1">
                <a:latin typeface="Times New Roman" panose="02020603050405020304" pitchFamily="18" charset="0"/>
                <a:ea typeface="黑体" panose="02010609060101010101" pitchFamily="49" charset="-122"/>
                <a:cs typeface="Times New Roman" panose="02020603050405020304" pitchFamily="18" charset="0"/>
              </a:rPr>
              <a:t>k</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分别代表以第</a:t>
            </a:r>
            <a:r>
              <a:rPr lang="en-US" altLang="zh-CN" sz="1800" i="1" dirty="0">
                <a:latin typeface="Times New Roman" panose="02020603050405020304" pitchFamily="18" charset="0"/>
                <a:ea typeface="黑体" panose="02010609060101010101" pitchFamily="49" charset="-122"/>
                <a:cs typeface="Times New Roman" panose="02020603050405020304" pitchFamily="18" charset="0"/>
              </a:rPr>
              <a:t>k</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个类别为正例，其他类别为负例的情况下计算出的查准率，查全率和</a:t>
            </a:r>
            <a:r>
              <a:rPr lang="en-US" altLang="zh-CN" sz="1800" dirty="0" err="1">
                <a:latin typeface="Times New Roman" panose="02020603050405020304" pitchFamily="18" charset="0"/>
                <a:ea typeface="黑体" panose="02010609060101010101" pitchFamily="49" charset="-122"/>
                <a:cs typeface="Times New Roman" panose="02020603050405020304" pitchFamily="18" charset="0"/>
              </a:rPr>
              <a:t>F1</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分数。</a:t>
            </a:r>
          </a:p>
          <a:p>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对比算法</a:t>
            </a:r>
            <a:endParaRPr lang="en-US" altLang="zh-CN" sz="1800" dirty="0">
              <a:latin typeface="Times New Roman" panose="02020603050405020304" pitchFamily="18" charset="0"/>
              <a:ea typeface="黑体" panose="02010609060101010101" pitchFamily="49" charset="-122"/>
              <a:cs typeface="Times New Roman" panose="02020603050405020304" pitchFamily="18" charset="0"/>
            </a:endParaRPr>
          </a:p>
          <a:p>
            <a:pPr lvl="1"/>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验证有效性：对比</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NOA-SVM</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与普通</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SVM</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，验证</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NOA</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算法的引入效果。</a:t>
            </a:r>
          </a:p>
          <a:p>
            <a:pPr lvl="1"/>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全面评估：对比</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NOA-</a:t>
            </a:r>
            <a:r>
              <a:rPr lang="en-US" altLang="zh-CN" sz="1800" dirty="0" err="1">
                <a:latin typeface="Times New Roman" panose="02020603050405020304" pitchFamily="18" charset="0"/>
                <a:ea typeface="黑体" panose="02010609060101010101" pitchFamily="49" charset="-122"/>
                <a:cs typeface="Times New Roman" panose="02020603050405020304" pitchFamily="18" charset="0"/>
              </a:rPr>
              <a:t>SVM</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与普通决策树算法，进一步验证其在机器学习邻域的优势。</a:t>
            </a:r>
          </a:p>
        </p:txBody>
      </p:sp>
      <p:graphicFrame>
        <p:nvGraphicFramePr>
          <p:cNvPr id="6" name="对象 5">
            <a:extLst>
              <a:ext uri="{FF2B5EF4-FFF2-40B4-BE49-F238E27FC236}">
                <a16:creationId xmlns:a16="http://schemas.microsoft.com/office/drawing/2014/main" id="{5A23DB77-432D-8E63-A97A-56DD014CAF84}"/>
              </a:ext>
            </a:extLst>
          </p:cNvPr>
          <p:cNvGraphicFramePr>
            <a:graphicFrameLocks noChangeAspect="1"/>
          </p:cNvGraphicFramePr>
          <p:nvPr>
            <p:extLst>
              <p:ext uri="{D42A27DB-BD31-4B8C-83A1-F6EECF244321}">
                <p14:modId xmlns:p14="http://schemas.microsoft.com/office/powerpoint/2010/main" val="2286665882"/>
              </p:ext>
            </p:extLst>
          </p:nvPr>
        </p:nvGraphicFramePr>
        <p:xfrm>
          <a:off x="8851379" y="191132"/>
          <a:ext cx="3255505" cy="774036"/>
        </p:xfrm>
        <a:graphic>
          <a:graphicData uri="http://schemas.openxmlformats.org/presentationml/2006/ole">
            <mc:AlternateContent xmlns:mc="http://schemas.openxmlformats.org/markup-compatibility/2006">
              <mc:Choice xmlns:v="urn:schemas-microsoft-com:vml" Requires="v">
                <p:oleObj name="Equation" r:id="rId3" imgW="1815840" imgH="431640" progId="Equation.DSMT4">
                  <p:embed/>
                </p:oleObj>
              </mc:Choice>
              <mc:Fallback>
                <p:oleObj name="Equation" r:id="rId3" imgW="1815840" imgH="431640" progId="Equation.DSMT4">
                  <p:embed/>
                  <p:pic>
                    <p:nvPicPr>
                      <p:cNvPr id="0" name=""/>
                      <p:cNvPicPr/>
                      <p:nvPr/>
                    </p:nvPicPr>
                    <p:blipFill>
                      <a:blip r:embed="rId4"/>
                      <a:stretch>
                        <a:fillRect/>
                      </a:stretch>
                    </p:blipFill>
                    <p:spPr>
                      <a:xfrm>
                        <a:off x="8851379" y="191132"/>
                        <a:ext cx="3255505" cy="774036"/>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7F988546-3E7B-E285-5F6F-D441D19476C4}"/>
              </a:ext>
            </a:extLst>
          </p:cNvPr>
          <p:cNvGraphicFramePr>
            <a:graphicFrameLocks noChangeAspect="1"/>
          </p:cNvGraphicFramePr>
          <p:nvPr>
            <p:extLst>
              <p:ext uri="{D42A27DB-BD31-4B8C-83A1-F6EECF244321}">
                <p14:modId xmlns:p14="http://schemas.microsoft.com/office/powerpoint/2010/main" val="17012446"/>
              </p:ext>
            </p:extLst>
          </p:nvPr>
        </p:nvGraphicFramePr>
        <p:xfrm>
          <a:off x="9204971" y="983318"/>
          <a:ext cx="2572532" cy="774036"/>
        </p:xfrm>
        <a:graphic>
          <a:graphicData uri="http://schemas.openxmlformats.org/presentationml/2006/ole">
            <mc:AlternateContent xmlns:mc="http://schemas.openxmlformats.org/markup-compatibility/2006">
              <mc:Choice xmlns:v="urn:schemas-microsoft-com:vml" Requires="v">
                <p:oleObj name="Equation" r:id="rId5" imgW="1434960" imgH="431640" progId="Equation.DSMT4">
                  <p:embed/>
                </p:oleObj>
              </mc:Choice>
              <mc:Fallback>
                <p:oleObj name="Equation" r:id="rId5" imgW="1434960" imgH="431640" progId="Equation.DSMT4">
                  <p:embed/>
                  <p:pic>
                    <p:nvPicPr>
                      <p:cNvPr id="0" name=""/>
                      <p:cNvPicPr/>
                      <p:nvPr/>
                    </p:nvPicPr>
                    <p:blipFill>
                      <a:blip r:embed="rId6"/>
                      <a:stretch>
                        <a:fillRect/>
                      </a:stretch>
                    </p:blipFill>
                    <p:spPr>
                      <a:xfrm>
                        <a:off x="9204971" y="983318"/>
                        <a:ext cx="2572532" cy="774036"/>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071681B1-CF81-54EB-6165-6ACA93E476C0}"/>
              </a:ext>
            </a:extLst>
          </p:cNvPr>
          <p:cNvGraphicFramePr>
            <a:graphicFrameLocks noChangeAspect="1"/>
          </p:cNvGraphicFramePr>
          <p:nvPr>
            <p:extLst>
              <p:ext uri="{D42A27DB-BD31-4B8C-83A1-F6EECF244321}">
                <p14:modId xmlns:p14="http://schemas.microsoft.com/office/powerpoint/2010/main" val="3224878079"/>
              </p:ext>
            </p:extLst>
          </p:nvPr>
        </p:nvGraphicFramePr>
        <p:xfrm>
          <a:off x="9591989" y="1884678"/>
          <a:ext cx="1798496" cy="774036"/>
        </p:xfrm>
        <a:graphic>
          <a:graphicData uri="http://schemas.openxmlformats.org/presentationml/2006/ole">
            <mc:AlternateContent xmlns:mc="http://schemas.openxmlformats.org/markup-compatibility/2006">
              <mc:Choice xmlns:v="urn:schemas-microsoft-com:vml" Requires="v">
                <p:oleObj name="Equation" r:id="rId7" imgW="1002960" imgH="431640" progId="Equation.DSMT4">
                  <p:embed/>
                </p:oleObj>
              </mc:Choice>
              <mc:Fallback>
                <p:oleObj name="Equation" r:id="rId7" imgW="1002960" imgH="431640" progId="Equation.DSMT4">
                  <p:embed/>
                  <p:pic>
                    <p:nvPicPr>
                      <p:cNvPr id="0" name=""/>
                      <p:cNvPicPr/>
                      <p:nvPr/>
                    </p:nvPicPr>
                    <p:blipFill>
                      <a:blip r:embed="rId8"/>
                      <a:stretch>
                        <a:fillRect/>
                      </a:stretch>
                    </p:blipFill>
                    <p:spPr>
                      <a:xfrm>
                        <a:off x="9591989" y="1884678"/>
                        <a:ext cx="1798496" cy="774036"/>
                      </a:xfrm>
                      <a:prstGeom prst="rect">
                        <a:avLst/>
                      </a:prstGeom>
                    </p:spPr>
                  </p:pic>
                </p:oleObj>
              </mc:Fallback>
            </mc:AlternateContent>
          </a:graphicData>
        </a:graphic>
      </p:graphicFrame>
    </p:spTree>
    <p:extLst>
      <p:ext uri="{BB962C8B-B14F-4D97-AF65-F5344CB8AC3E}">
        <p14:creationId xmlns:p14="http://schemas.microsoft.com/office/powerpoint/2010/main" val="1062921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45A858-0373-4D44-CBAF-FE5601004356}"/>
              </a:ext>
            </a:extLst>
          </p:cNvPr>
          <p:cNvSpPr>
            <a:spLocks noGrp="1"/>
          </p:cNvSpPr>
          <p:nvPr>
            <p:ph type="title"/>
          </p:nvPr>
        </p:nvSpPr>
        <p:spPr>
          <a:xfrm>
            <a:off x="1138503" y="20508"/>
            <a:ext cx="9905998" cy="1478570"/>
          </a:xfrm>
        </p:spPr>
        <p:txBody>
          <a:bodyPr/>
          <a:lstStyle/>
          <a:p>
            <a:r>
              <a:rPr lang="zh-CN" altLang="en-US" dirty="0">
                <a:latin typeface="Times New Roman" panose="02020603050405020304" pitchFamily="18" charset="0"/>
                <a:ea typeface="黑体" panose="02010609060101010101" pitchFamily="49" charset="-122"/>
                <a:cs typeface="Times New Roman" panose="02020603050405020304" pitchFamily="18" charset="0"/>
              </a:rPr>
              <a:t>测试集介绍</a:t>
            </a:r>
          </a:p>
        </p:txBody>
      </p:sp>
      <p:sp>
        <p:nvSpPr>
          <p:cNvPr id="3" name="内容占位符 2">
            <a:extLst>
              <a:ext uri="{FF2B5EF4-FFF2-40B4-BE49-F238E27FC236}">
                <a16:creationId xmlns:a16="http://schemas.microsoft.com/office/drawing/2014/main" id="{80254C44-8522-D959-2562-CD7A60C7D0BE}"/>
              </a:ext>
            </a:extLst>
          </p:cNvPr>
          <p:cNvSpPr>
            <a:spLocks noGrp="1"/>
          </p:cNvSpPr>
          <p:nvPr>
            <p:ph idx="1"/>
          </p:nvPr>
        </p:nvSpPr>
        <p:spPr>
          <a:xfrm>
            <a:off x="886838" y="1345549"/>
            <a:ext cx="6604001" cy="4782877"/>
          </a:xfrm>
        </p:spPr>
        <p:txBody>
          <a:bodyPr>
            <a:noAutofit/>
          </a:bodyPr>
          <a:lstStyle/>
          <a:p>
            <a:r>
              <a:rPr lang="en-US" altLang="zh-CN" dirty="0">
                <a:latin typeface="Times New Roman" panose="02020603050405020304" pitchFamily="18" charset="0"/>
                <a:ea typeface="黑体" panose="02010609060101010101" pitchFamily="49" charset="-122"/>
                <a:cs typeface="Times New Roman" panose="02020603050405020304" pitchFamily="18" charset="0"/>
              </a:rPr>
              <a:t>1. Iris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数据集</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lvl="1"/>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描述三种鸢尾花，共</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150</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条。</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1"/>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类别：</a:t>
            </a:r>
            <a:r>
              <a:rPr lang="en-US" altLang="zh-CN" sz="2000" dirty="0" err="1">
                <a:latin typeface="Times New Roman" panose="02020603050405020304" pitchFamily="18" charset="0"/>
                <a:ea typeface="黑体" panose="02010609060101010101" pitchFamily="49" charset="-122"/>
                <a:cs typeface="Times New Roman" panose="02020603050405020304" pitchFamily="18" charset="0"/>
              </a:rPr>
              <a:t>Setosa</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dirty="0" err="1">
                <a:latin typeface="Times New Roman" panose="02020603050405020304" pitchFamily="18" charset="0"/>
                <a:ea typeface="黑体" panose="02010609060101010101" pitchFamily="49" charset="-122"/>
                <a:cs typeface="Times New Roman" panose="02020603050405020304" pitchFamily="18" charset="0"/>
              </a:rPr>
              <a:t>Versicolour</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Virginica</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1"/>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特征：花萼长度</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宽度、花瓣长度</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宽度。</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1"/>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三种类别均衡。</a:t>
            </a: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2. Breast Cancer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数据集</a:t>
            </a:r>
          </a:p>
          <a:p>
            <a:pPr lvl="1"/>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描述乳腺癌肿瘤细胞，共</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569</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条。</a:t>
            </a:r>
          </a:p>
          <a:p>
            <a:pPr lvl="1"/>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类别：良性、恶性。</a:t>
            </a:r>
          </a:p>
          <a:p>
            <a:pPr lvl="1"/>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特征：</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半径、面积、平滑度等</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30</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个特征。</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lvl="1"/>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数据较为不平衡，良性较多。</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5" name="图片 4">
            <a:extLst>
              <a:ext uri="{FF2B5EF4-FFF2-40B4-BE49-F238E27FC236}">
                <a16:creationId xmlns:a16="http://schemas.microsoft.com/office/drawing/2014/main" id="{B6299AAF-E8FC-8C23-C9E2-23347AC394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0136" y="1499078"/>
            <a:ext cx="5359930" cy="2012464"/>
          </a:xfrm>
          <a:prstGeom prst="rect">
            <a:avLst/>
          </a:prstGeom>
          <a:solidFill>
            <a:srgbClr val="FFFFFF">
              <a:shade val="85000"/>
            </a:srgbClr>
          </a:solidFill>
          <a:ln w="88900" cap="sq">
            <a:solidFill>
              <a:srgbClr val="FFFFFF"/>
            </a:solidFill>
            <a:miter lim="800000"/>
          </a:ln>
          <a:effectLst/>
        </p:spPr>
      </p:pic>
      <p:pic>
        <p:nvPicPr>
          <p:cNvPr id="13" name="图片 12">
            <a:extLst>
              <a:ext uri="{FF2B5EF4-FFF2-40B4-BE49-F238E27FC236}">
                <a16:creationId xmlns:a16="http://schemas.microsoft.com/office/drawing/2014/main" id="{6944883E-E40D-0FE3-9AAB-CA0ADCA84A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75701" y="3923510"/>
            <a:ext cx="4368800" cy="1922272"/>
          </a:xfrm>
          <a:prstGeom prst="rect">
            <a:avLst/>
          </a:prstGeom>
        </p:spPr>
      </p:pic>
    </p:spTree>
    <p:extLst>
      <p:ext uri="{BB962C8B-B14F-4D97-AF65-F5344CB8AC3E}">
        <p14:creationId xmlns:p14="http://schemas.microsoft.com/office/powerpoint/2010/main" val="19128323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C1E638-4786-F816-3BF5-2E258572D8B4}"/>
              </a:ext>
            </a:extLst>
          </p:cNvPr>
          <p:cNvSpPr>
            <a:spLocks noGrp="1"/>
          </p:cNvSpPr>
          <p:nvPr>
            <p:ph type="title"/>
          </p:nvPr>
        </p:nvSpPr>
        <p:spPr>
          <a:xfrm>
            <a:off x="1143001" y="0"/>
            <a:ext cx="9905998" cy="1478570"/>
          </a:xfrm>
        </p:spPr>
        <p:txBody>
          <a:bodyPr/>
          <a:lstStyle/>
          <a:p>
            <a:r>
              <a:rPr lang="en-US" altLang="zh-CN" dirty="0">
                <a:latin typeface="Times New Roman" panose="02020603050405020304" pitchFamily="18" charset="0"/>
                <a:ea typeface="黑体" panose="02010609060101010101" pitchFamily="49" charset="-122"/>
                <a:cs typeface="Times New Roman" panose="02020603050405020304" pitchFamily="18" charset="0"/>
              </a:rPr>
              <a:t>NOA</a:t>
            </a:r>
            <a:r>
              <a:rPr lang="zh-CN" altLang="en-US" dirty="0">
                <a:latin typeface="黑体" panose="02010609060101010101" pitchFamily="49" charset="-122"/>
                <a:ea typeface="黑体" panose="02010609060101010101" pitchFamily="49" charset="-122"/>
              </a:rPr>
              <a:t>实现结果</a:t>
            </a:r>
          </a:p>
        </p:txBody>
      </p:sp>
      <p:sp>
        <p:nvSpPr>
          <p:cNvPr id="3" name="内容占位符 2">
            <a:extLst>
              <a:ext uri="{FF2B5EF4-FFF2-40B4-BE49-F238E27FC236}">
                <a16:creationId xmlns:a16="http://schemas.microsoft.com/office/drawing/2014/main" id="{BDCFF86B-9211-F750-2AC8-072FE90893E5}"/>
              </a:ext>
            </a:extLst>
          </p:cNvPr>
          <p:cNvSpPr>
            <a:spLocks noGrp="1"/>
          </p:cNvSpPr>
          <p:nvPr>
            <p:ph idx="1"/>
          </p:nvPr>
        </p:nvSpPr>
        <p:spPr>
          <a:xfrm>
            <a:off x="838200" y="1478570"/>
            <a:ext cx="10515600" cy="849881"/>
          </a:xfrm>
        </p:spPr>
        <p:txBody>
          <a:bodyPr>
            <a:normAutofit/>
          </a:bodyPr>
          <a:lstStyle/>
          <a:p>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将种群数量设为</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10</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，最大迭代次数设置为</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100</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。其他参数采用论文中的设置。在</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30</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维的</a:t>
            </a:r>
            <a:r>
              <a:rPr lang="en-US" altLang="zh-CN" sz="2000" dirty="0" err="1">
                <a:latin typeface="Times New Roman" panose="02020603050405020304" pitchFamily="18" charset="0"/>
                <a:ea typeface="黑体" panose="02010609060101010101" pitchFamily="49" charset="-122"/>
                <a:cs typeface="Times New Roman" panose="02020603050405020304" pitchFamily="18" charset="0"/>
              </a:rPr>
              <a:t>rastrigin</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函数上的结果如右图所示。可以看到算法成功在</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40</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代左右收敛至最佳值。</a:t>
            </a:r>
          </a:p>
        </p:txBody>
      </p:sp>
      <p:pic>
        <p:nvPicPr>
          <p:cNvPr id="7" name="图片 6">
            <a:extLst>
              <a:ext uri="{FF2B5EF4-FFF2-40B4-BE49-F238E27FC236}">
                <a16:creationId xmlns:a16="http://schemas.microsoft.com/office/drawing/2014/main" id="{F3F54272-20D8-636A-F68E-C60D022474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53800" y="2552187"/>
            <a:ext cx="4800000" cy="3600000"/>
          </a:xfrm>
          <a:prstGeom prst="rect">
            <a:avLst/>
          </a:prstGeom>
          <a:ln>
            <a:noFill/>
          </a:ln>
          <a:effectLst/>
        </p:spPr>
      </p:pic>
      <p:pic>
        <p:nvPicPr>
          <p:cNvPr id="9" name="图片 8">
            <a:extLst>
              <a:ext uri="{FF2B5EF4-FFF2-40B4-BE49-F238E27FC236}">
                <a16:creationId xmlns:a16="http://schemas.microsoft.com/office/drawing/2014/main" id="{8C5280D1-E53E-35F7-F974-1315C4F4876F}"/>
              </a:ext>
            </a:extLst>
          </p:cNvPr>
          <p:cNvPicPr>
            <a:picLocks noChangeAspect="1"/>
          </p:cNvPicPr>
          <p:nvPr/>
        </p:nvPicPr>
        <p:blipFill>
          <a:blip r:embed="rId4">
            <a:extLst>
              <a:ext uri="{28A0092B-C50C-407E-A947-70E740481C1C}">
                <a14:useLocalDpi xmlns:a14="http://schemas.microsoft.com/office/drawing/2010/main" val="0"/>
              </a:ext>
            </a:extLst>
          </a:blip>
          <a:srcRect l="18473" t="10132" r="9236" b="10589"/>
          <a:stretch/>
        </p:blipFill>
        <p:spPr>
          <a:xfrm>
            <a:off x="1006895" y="2552187"/>
            <a:ext cx="4103361" cy="3600000"/>
          </a:xfrm>
          <a:prstGeom prst="rect">
            <a:avLst/>
          </a:prstGeom>
          <a:ln>
            <a:noFill/>
          </a:ln>
          <a:effectLst/>
        </p:spPr>
      </p:pic>
      <p:sp>
        <p:nvSpPr>
          <p:cNvPr id="4" name="文本框 3">
            <a:extLst>
              <a:ext uri="{FF2B5EF4-FFF2-40B4-BE49-F238E27FC236}">
                <a16:creationId xmlns:a16="http://schemas.microsoft.com/office/drawing/2014/main" id="{C244E75C-A4C4-D18A-EF17-9D38B353D38D}"/>
              </a:ext>
            </a:extLst>
          </p:cNvPr>
          <p:cNvSpPr txBox="1"/>
          <p:nvPr/>
        </p:nvSpPr>
        <p:spPr>
          <a:xfrm>
            <a:off x="1794933" y="6277403"/>
            <a:ext cx="2785534" cy="369332"/>
          </a:xfrm>
          <a:prstGeom prst="rect">
            <a:avLst/>
          </a:prstGeom>
          <a:noFill/>
        </p:spPr>
        <p:txBody>
          <a:bodyPr wrap="square" rtlCol="0">
            <a:spAutoFit/>
          </a:bodyPr>
          <a:lstStyle/>
          <a:p>
            <a:pPr algn="ctr"/>
            <a:r>
              <a:rPr lang="en-US" altLang="zh-CN" sz="1800" dirty="0" err="1">
                <a:latin typeface="Times New Roman" panose="02020603050405020304" pitchFamily="18" charset="0"/>
                <a:cs typeface="Times New Roman" panose="02020603050405020304" pitchFamily="18" charset="0"/>
              </a:rPr>
              <a:t>rastrigin</a:t>
            </a:r>
            <a:r>
              <a:rPr lang="zh-CN" altLang="en-US" sz="1800" dirty="0">
                <a:latin typeface="黑体" panose="02010609060101010101" pitchFamily="49" charset="-122"/>
              </a:rPr>
              <a:t>函数示意图</a:t>
            </a:r>
            <a:endParaRPr lang="zh-CN" altLang="en-US" dirty="0">
              <a:latin typeface="黑体" panose="02010609060101010101" pitchFamily="49" charset="-122"/>
            </a:endParaRPr>
          </a:p>
        </p:txBody>
      </p:sp>
      <p:sp>
        <p:nvSpPr>
          <p:cNvPr id="5" name="文本框 4">
            <a:extLst>
              <a:ext uri="{FF2B5EF4-FFF2-40B4-BE49-F238E27FC236}">
                <a16:creationId xmlns:a16="http://schemas.microsoft.com/office/drawing/2014/main" id="{3290096D-5C0B-2CD3-E58A-B92AF41C68FD}"/>
              </a:ext>
            </a:extLst>
          </p:cNvPr>
          <p:cNvSpPr txBox="1"/>
          <p:nvPr/>
        </p:nvSpPr>
        <p:spPr>
          <a:xfrm>
            <a:off x="7611533" y="6277403"/>
            <a:ext cx="2785534" cy="369332"/>
          </a:xfrm>
          <a:prstGeom prst="rect">
            <a:avLst/>
          </a:prstGeom>
          <a:noFill/>
        </p:spPr>
        <p:txBody>
          <a:bodyPr wrap="square" rtlCol="0">
            <a:spAutoFit/>
          </a:bodyPr>
          <a:lstStyle/>
          <a:p>
            <a:pPr algn="ctr"/>
            <a:r>
              <a:rPr lang="zh-CN" altLang="en-US" sz="1800" dirty="0">
                <a:latin typeface="黑体" panose="02010609060101010101" pitchFamily="49" charset="-122"/>
              </a:rPr>
              <a:t>算法收敛图</a:t>
            </a:r>
            <a:endParaRPr lang="zh-CN" altLang="en-US" dirty="0">
              <a:latin typeface="黑体" panose="02010609060101010101" pitchFamily="49" charset="-122"/>
            </a:endParaRPr>
          </a:p>
        </p:txBody>
      </p:sp>
    </p:spTree>
    <p:extLst>
      <p:ext uri="{BB962C8B-B14F-4D97-AF65-F5344CB8AC3E}">
        <p14:creationId xmlns:p14="http://schemas.microsoft.com/office/powerpoint/2010/main" val="2001098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7D5CE-726E-00E3-E56C-7F737DBE6C2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BD244E1-C327-B5C0-DD76-92952FF3FCC8}"/>
              </a:ext>
            </a:extLst>
          </p:cNvPr>
          <p:cNvSpPr>
            <a:spLocks noGrp="1"/>
          </p:cNvSpPr>
          <p:nvPr>
            <p:ph type="title"/>
          </p:nvPr>
        </p:nvSpPr>
        <p:spPr>
          <a:xfrm>
            <a:off x="795868" y="0"/>
            <a:ext cx="9905998" cy="1478570"/>
          </a:xfrm>
        </p:spPr>
        <p:txBody>
          <a:bodyPr/>
          <a:lstStyle/>
          <a:p>
            <a:r>
              <a:rPr lang="zh-CN" altLang="en-US" dirty="0">
                <a:latin typeface="Times New Roman" panose="02020603050405020304" pitchFamily="18" charset="0"/>
                <a:ea typeface="黑体" panose="02010609060101010101" pitchFamily="49" charset="-122"/>
                <a:cs typeface="Times New Roman" panose="02020603050405020304" pitchFamily="18" charset="0"/>
              </a:rPr>
              <a:t>实验结果：</a:t>
            </a:r>
            <a:r>
              <a:rPr lang="en-US" altLang="zh-CN" dirty="0">
                <a:latin typeface="Times New Roman" panose="02020603050405020304" pitchFamily="18" charset="0"/>
                <a:ea typeface="黑体" panose="02010609060101010101" pitchFamily="49" charset="-122"/>
                <a:cs typeface="Times New Roman" panose="02020603050405020304" pitchFamily="18" charset="0"/>
              </a:rPr>
              <a:t>Iris</a:t>
            </a:r>
            <a:r>
              <a:rPr lang="zh-CN" altLang="en-US" dirty="0">
                <a:latin typeface="Times New Roman" panose="02020603050405020304" pitchFamily="18" charset="0"/>
                <a:ea typeface="黑体" panose="02010609060101010101" pitchFamily="49" charset="-122"/>
                <a:cs typeface="Times New Roman" panose="02020603050405020304" pitchFamily="18" charset="0"/>
              </a:rPr>
              <a:t>测试集</a:t>
            </a:r>
          </a:p>
        </p:txBody>
      </p:sp>
      <p:graphicFrame>
        <p:nvGraphicFramePr>
          <p:cNvPr id="3" name="表格 2">
            <a:extLst>
              <a:ext uri="{FF2B5EF4-FFF2-40B4-BE49-F238E27FC236}">
                <a16:creationId xmlns:a16="http://schemas.microsoft.com/office/drawing/2014/main" id="{97950A97-8AF3-752F-FB66-757532C0F7F8}"/>
              </a:ext>
            </a:extLst>
          </p:cNvPr>
          <p:cNvGraphicFramePr>
            <a:graphicFrameLocks noGrp="1"/>
          </p:cNvGraphicFramePr>
          <p:nvPr>
            <p:extLst>
              <p:ext uri="{D42A27DB-BD31-4B8C-83A1-F6EECF244321}">
                <p14:modId xmlns:p14="http://schemas.microsoft.com/office/powerpoint/2010/main" val="1044948719"/>
              </p:ext>
            </p:extLst>
          </p:nvPr>
        </p:nvGraphicFramePr>
        <p:xfrm>
          <a:off x="6986687" y="5451475"/>
          <a:ext cx="3980180" cy="1143000"/>
        </p:xfrm>
        <a:graphic>
          <a:graphicData uri="http://schemas.openxmlformats.org/drawingml/2006/table">
            <a:tbl>
              <a:tblPr firstRow="1" firstCol="1" bandRow="1">
                <a:tableStyleId>{5A111915-BE36-4E01-A7E5-04B1672EAD32}</a:tableStyleId>
              </a:tblPr>
              <a:tblGrid>
                <a:gridCol w="796036">
                  <a:extLst>
                    <a:ext uri="{9D8B030D-6E8A-4147-A177-3AD203B41FA5}">
                      <a16:colId xmlns:a16="http://schemas.microsoft.com/office/drawing/2014/main" val="2430162962"/>
                    </a:ext>
                  </a:extLst>
                </a:gridCol>
                <a:gridCol w="796036">
                  <a:extLst>
                    <a:ext uri="{9D8B030D-6E8A-4147-A177-3AD203B41FA5}">
                      <a16:colId xmlns:a16="http://schemas.microsoft.com/office/drawing/2014/main" val="2709519829"/>
                    </a:ext>
                  </a:extLst>
                </a:gridCol>
                <a:gridCol w="796036">
                  <a:extLst>
                    <a:ext uri="{9D8B030D-6E8A-4147-A177-3AD203B41FA5}">
                      <a16:colId xmlns:a16="http://schemas.microsoft.com/office/drawing/2014/main" val="1562219700"/>
                    </a:ext>
                  </a:extLst>
                </a:gridCol>
                <a:gridCol w="796036">
                  <a:extLst>
                    <a:ext uri="{9D8B030D-6E8A-4147-A177-3AD203B41FA5}">
                      <a16:colId xmlns:a16="http://schemas.microsoft.com/office/drawing/2014/main" val="2586230645"/>
                    </a:ext>
                  </a:extLst>
                </a:gridCol>
                <a:gridCol w="796036">
                  <a:extLst>
                    <a:ext uri="{9D8B030D-6E8A-4147-A177-3AD203B41FA5}">
                      <a16:colId xmlns:a16="http://schemas.microsoft.com/office/drawing/2014/main" val="2938724674"/>
                    </a:ext>
                  </a:extLst>
                </a:gridCol>
              </a:tblGrid>
              <a:tr h="182880">
                <a:tc>
                  <a:txBody>
                    <a:bodyPr/>
                    <a:lstStyle/>
                    <a:p>
                      <a:pPr algn="ctr"/>
                      <a:r>
                        <a:rPr lang="zh-CN" sz="1200" kern="0" dirty="0">
                          <a:effectLst/>
                          <a:latin typeface="Times New Roman" panose="02020603050405020304" pitchFamily="18" charset="0"/>
                          <a:cs typeface="Times New Roman" panose="02020603050405020304" pitchFamily="18" charset="0"/>
                        </a:rPr>
                        <a:t>算法</a:t>
                      </a:r>
                      <a:endParaRPr lang="zh-CN" sz="1050"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a:tc>
                <a:tc>
                  <a:txBody>
                    <a:bodyPr/>
                    <a:lstStyle/>
                    <a:p>
                      <a:pPr algn="ctr"/>
                      <a:r>
                        <a:rPr lang="zh-CN" sz="1050" kern="0" dirty="0">
                          <a:effectLst/>
                          <a:latin typeface="Times New Roman" panose="02020603050405020304" pitchFamily="18" charset="0"/>
                          <a:cs typeface="Times New Roman" panose="02020603050405020304" pitchFamily="18" charset="0"/>
                        </a:rPr>
                        <a:t>准确率</a:t>
                      </a:r>
                      <a:endParaRPr lang="zh-CN" sz="1050"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a:tc>
                <a:tc>
                  <a:txBody>
                    <a:bodyPr/>
                    <a:lstStyle/>
                    <a:p>
                      <a:pPr algn="ctr"/>
                      <a:r>
                        <a:rPr lang="zh-CN" sz="1050" kern="0" dirty="0">
                          <a:effectLst/>
                          <a:latin typeface="Times New Roman" panose="02020603050405020304" pitchFamily="18" charset="0"/>
                          <a:cs typeface="Times New Roman" panose="02020603050405020304" pitchFamily="18" charset="0"/>
                        </a:rPr>
                        <a:t>查准率</a:t>
                      </a:r>
                      <a:endParaRPr lang="zh-CN" sz="1050"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a:tc>
                <a:tc>
                  <a:txBody>
                    <a:bodyPr/>
                    <a:lstStyle/>
                    <a:p>
                      <a:pPr algn="ctr"/>
                      <a:r>
                        <a:rPr lang="zh-CN" sz="1050" kern="0" dirty="0">
                          <a:effectLst/>
                          <a:latin typeface="Times New Roman" panose="02020603050405020304" pitchFamily="18" charset="0"/>
                          <a:cs typeface="Times New Roman" panose="02020603050405020304" pitchFamily="18" charset="0"/>
                        </a:rPr>
                        <a:t>查全率</a:t>
                      </a:r>
                      <a:endParaRPr lang="zh-CN" sz="1050"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a:tc>
                <a:tc>
                  <a:txBody>
                    <a:bodyPr/>
                    <a:lstStyle/>
                    <a:p>
                      <a:pPr algn="ctr"/>
                      <a:r>
                        <a:rPr lang="en-US" sz="1050" kern="0" dirty="0" err="1">
                          <a:effectLst/>
                          <a:latin typeface="Times New Roman" panose="02020603050405020304" pitchFamily="18" charset="0"/>
                          <a:cs typeface="Times New Roman" panose="02020603050405020304" pitchFamily="18" charset="0"/>
                        </a:rPr>
                        <a:t>F1</a:t>
                      </a:r>
                      <a:r>
                        <a:rPr lang="zh-CN" sz="1050" kern="0" dirty="0">
                          <a:effectLst/>
                          <a:latin typeface="Times New Roman" panose="02020603050405020304" pitchFamily="18" charset="0"/>
                          <a:cs typeface="Times New Roman" panose="02020603050405020304" pitchFamily="18" charset="0"/>
                        </a:rPr>
                        <a:t>分数</a:t>
                      </a:r>
                      <a:endParaRPr lang="zh-CN" sz="1050"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572828217"/>
                  </a:ext>
                </a:extLst>
              </a:tr>
              <a:tr h="182880">
                <a:tc>
                  <a:txBody>
                    <a:bodyPr/>
                    <a:lstStyle/>
                    <a:p>
                      <a:pPr algn="ctr"/>
                      <a:r>
                        <a:rPr lang="en-US" sz="1050" kern="0" dirty="0">
                          <a:effectLst/>
                          <a:latin typeface="Times New Roman" panose="02020603050405020304" pitchFamily="18" charset="0"/>
                          <a:cs typeface="Times New Roman" panose="02020603050405020304" pitchFamily="18" charset="0"/>
                        </a:rPr>
                        <a:t>NOA-SVM</a:t>
                      </a:r>
                      <a:endParaRPr lang="zh-CN" sz="1050" kern="100" dirty="0">
                        <a:effectLst/>
                        <a:latin typeface="Times New Roman" panose="02020603050405020304" pitchFamily="18" charset="0"/>
                        <a:cs typeface="Times New Roman" panose="02020603050405020304" pitchFamily="18" charset="0"/>
                      </a:endParaRPr>
                    </a:p>
                    <a:p>
                      <a:pPr algn="ctr"/>
                      <a:r>
                        <a:rPr lang="en-US" sz="1050" kern="0" dirty="0">
                          <a:effectLst/>
                          <a:latin typeface="Times New Roman" panose="02020603050405020304" pitchFamily="18" charset="0"/>
                          <a:cs typeface="Times New Roman" panose="02020603050405020304" pitchFamily="18" charset="0"/>
                        </a:rPr>
                        <a:t>vs</a:t>
                      </a:r>
                      <a:endParaRPr lang="zh-CN" sz="1050" kern="100" dirty="0">
                        <a:effectLst/>
                        <a:latin typeface="Times New Roman" panose="02020603050405020304" pitchFamily="18" charset="0"/>
                        <a:cs typeface="Times New Roman" panose="02020603050405020304" pitchFamily="18" charset="0"/>
                      </a:endParaRPr>
                    </a:p>
                    <a:p>
                      <a:pPr algn="ctr"/>
                      <a:r>
                        <a:rPr lang="en-US" sz="1050" kern="0" dirty="0">
                          <a:effectLst/>
                          <a:latin typeface="Times New Roman" panose="02020603050405020304" pitchFamily="18" charset="0"/>
                          <a:cs typeface="Times New Roman" panose="02020603050405020304" pitchFamily="18" charset="0"/>
                        </a:rPr>
                        <a:t>SVM</a:t>
                      </a:r>
                      <a:endParaRPr lang="zh-CN" sz="1050"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a:tc>
                <a:tc>
                  <a:txBody>
                    <a:bodyPr/>
                    <a:lstStyle/>
                    <a:p>
                      <a:pPr algn="ctr"/>
                      <a:r>
                        <a:rPr lang="en-US" sz="1600" kern="0" dirty="0">
                          <a:effectLst/>
                          <a:latin typeface="Times New Roman" panose="02020603050405020304" pitchFamily="18" charset="0"/>
                          <a:cs typeface="Times New Roman" panose="02020603050405020304" pitchFamily="18" charset="0"/>
                        </a:rPr>
                        <a:t>+</a:t>
                      </a:r>
                      <a:endParaRPr lang="zh-CN" sz="1050"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a:tc>
                <a:tc>
                  <a:txBody>
                    <a:bodyPr/>
                    <a:lstStyle/>
                    <a:p>
                      <a:pPr algn="ctr"/>
                      <a:r>
                        <a:rPr lang="en-US" sz="1600" kern="0" dirty="0">
                          <a:effectLst/>
                          <a:latin typeface="Times New Roman" panose="02020603050405020304" pitchFamily="18" charset="0"/>
                          <a:cs typeface="Times New Roman" panose="02020603050405020304" pitchFamily="18" charset="0"/>
                        </a:rPr>
                        <a:t>+</a:t>
                      </a:r>
                      <a:endParaRPr lang="zh-CN" sz="1050"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a:tc>
                <a:tc>
                  <a:txBody>
                    <a:bodyPr/>
                    <a:lstStyle/>
                    <a:p>
                      <a:pPr algn="ctr"/>
                      <a:r>
                        <a:rPr lang="en-US" sz="1600" kern="0" dirty="0">
                          <a:effectLst/>
                          <a:latin typeface="Times New Roman" panose="02020603050405020304" pitchFamily="18" charset="0"/>
                          <a:cs typeface="Times New Roman" panose="02020603050405020304" pitchFamily="18" charset="0"/>
                        </a:rPr>
                        <a:t>+</a:t>
                      </a:r>
                      <a:endParaRPr lang="zh-CN" sz="1050"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a:tc>
                <a:tc>
                  <a:txBody>
                    <a:bodyPr/>
                    <a:lstStyle/>
                    <a:p>
                      <a:pPr algn="ctr"/>
                      <a:r>
                        <a:rPr lang="en-US" sz="1600" kern="0" dirty="0">
                          <a:effectLst/>
                          <a:latin typeface="Times New Roman" panose="02020603050405020304" pitchFamily="18" charset="0"/>
                          <a:cs typeface="Times New Roman" panose="02020603050405020304" pitchFamily="18" charset="0"/>
                        </a:rPr>
                        <a:t>+</a:t>
                      </a:r>
                      <a:endParaRPr lang="zh-CN" sz="1050"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775391240"/>
                  </a:ext>
                </a:extLst>
              </a:tr>
              <a:tr h="182880">
                <a:tc>
                  <a:txBody>
                    <a:bodyPr/>
                    <a:lstStyle/>
                    <a:p>
                      <a:pPr algn="ctr"/>
                      <a:r>
                        <a:rPr lang="en-US" sz="1050" kern="0" dirty="0">
                          <a:effectLst/>
                          <a:latin typeface="Times New Roman" panose="02020603050405020304" pitchFamily="18" charset="0"/>
                          <a:cs typeface="Times New Roman" panose="02020603050405020304" pitchFamily="18" charset="0"/>
                        </a:rPr>
                        <a:t>NOA-</a:t>
                      </a:r>
                      <a:r>
                        <a:rPr lang="en-US" sz="1050" kern="0" dirty="0" err="1">
                          <a:effectLst/>
                          <a:latin typeface="Times New Roman" panose="02020603050405020304" pitchFamily="18" charset="0"/>
                          <a:cs typeface="Times New Roman" panose="02020603050405020304" pitchFamily="18" charset="0"/>
                        </a:rPr>
                        <a:t>SVM</a:t>
                      </a:r>
                      <a:endParaRPr lang="zh-CN" sz="1050" kern="100" dirty="0">
                        <a:effectLst/>
                        <a:latin typeface="Times New Roman" panose="02020603050405020304" pitchFamily="18" charset="0"/>
                        <a:cs typeface="Times New Roman" panose="02020603050405020304" pitchFamily="18" charset="0"/>
                      </a:endParaRPr>
                    </a:p>
                    <a:p>
                      <a:pPr algn="ctr"/>
                      <a:r>
                        <a:rPr lang="en-US" sz="1050" kern="0" dirty="0">
                          <a:effectLst/>
                          <a:latin typeface="Times New Roman" panose="02020603050405020304" pitchFamily="18" charset="0"/>
                          <a:cs typeface="Times New Roman" panose="02020603050405020304" pitchFamily="18" charset="0"/>
                        </a:rPr>
                        <a:t>vs</a:t>
                      </a:r>
                      <a:endParaRPr lang="zh-CN" sz="1050" kern="100" dirty="0">
                        <a:effectLst/>
                        <a:latin typeface="Times New Roman" panose="02020603050405020304" pitchFamily="18" charset="0"/>
                        <a:cs typeface="Times New Roman" panose="02020603050405020304" pitchFamily="18" charset="0"/>
                      </a:endParaRPr>
                    </a:p>
                    <a:p>
                      <a:pPr algn="ctr"/>
                      <a:r>
                        <a:rPr lang="zh-CN" sz="1050" kern="0" dirty="0">
                          <a:effectLst/>
                          <a:latin typeface="Times New Roman" panose="02020603050405020304" pitchFamily="18" charset="0"/>
                          <a:cs typeface="Times New Roman" panose="02020603050405020304" pitchFamily="18" charset="0"/>
                        </a:rPr>
                        <a:t>决策树</a:t>
                      </a:r>
                      <a:endParaRPr lang="zh-CN" sz="1050"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a:tc>
                <a:tc>
                  <a:txBody>
                    <a:bodyPr/>
                    <a:lstStyle/>
                    <a:p>
                      <a:pPr algn="ctr"/>
                      <a:r>
                        <a:rPr lang="en-US" sz="1600" kern="0" dirty="0">
                          <a:effectLst/>
                          <a:latin typeface="Times New Roman" panose="02020603050405020304" pitchFamily="18" charset="0"/>
                          <a:cs typeface="Times New Roman" panose="02020603050405020304" pitchFamily="18" charset="0"/>
                        </a:rPr>
                        <a:t>+</a:t>
                      </a:r>
                      <a:endParaRPr lang="zh-CN" sz="1050"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a:tc>
                <a:tc>
                  <a:txBody>
                    <a:bodyPr/>
                    <a:lstStyle/>
                    <a:p>
                      <a:pPr algn="ctr"/>
                      <a:r>
                        <a:rPr lang="en-US" sz="1600" kern="0" dirty="0">
                          <a:effectLst/>
                          <a:latin typeface="Times New Roman" panose="02020603050405020304" pitchFamily="18" charset="0"/>
                          <a:cs typeface="Times New Roman" panose="02020603050405020304" pitchFamily="18" charset="0"/>
                        </a:rPr>
                        <a:t>+</a:t>
                      </a:r>
                      <a:endParaRPr lang="zh-CN" sz="1050"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a:tc>
                <a:tc>
                  <a:txBody>
                    <a:bodyPr/>
                    <a:lstStyle/>
                    <a:p>
                      <a:pPr algn="ctr"/>
                      <a:r>
                        <a:rPr lang="en-US" sz="1600" kern="0" dirty="0">
                          <a:effectLst/>
                          <a:latin typeface="Times New Roman" panose="02020603050405020304" pitchFamily="18" charset="0"/>
                          <a:cs typeface="Times New Roman" panose="02020603050405020304" pitchFamily="18" charset="0"/>
                        </a:rPr>
                        <a:t>+</a:t>
                      </a:r>
                      <a:endParaRPr lang="zh-CN" sz="1050"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a:tc>
                <a:tc>
                  <a:txBody>
                    <a:bodyPr/>
                    <a:lstStyle/>
                    <a:p>
                      <a:pPr algn="ctr"/>
                      <a:r>
                        <a:rPr lang="en-US" sz="1600" kern="0" dirty="0">
                          <a:effectLst/>
                          <a:latin typeface="Times New Roman" panose="02020603050405020304" pitchFamily="18" charset="0"/>
                          <a:cs typeface="Times New Roman" panose="02020603050405020304" pitchFamily="18" charset="0"/>
                        </a:rPr>
                        <a:t>+</a:t>
                      </a:r>
                      <a:endParaRPr lang="zh-CN" sz="1050" kern="100" dirty="0">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988379417"/>
                  </a:ext>
                </a:extLst>
              </a:tr>
            </a:tbl>
          </a:graphicData>
        </a:graphic>
      </p:graphicFrame>
      <p:sp>
        <p:nvSpPr>
          <p:cNvPr id="4" name="文本框 3">
            <a:extLst>
              <a:ext uri="{FF2B5EF4-FFF2-40B4-BE49-F238E27FC236}">
                <a16:creationId xmlns:a16="http://schemas.microsoft.com/office/drawing/2014/main" id="{06C9DE9B-0F8E-D9A8-D93D-18E59FF909CB}"/>
              </a:ext>
            </a:extLst>
          </p:cNvPr>
          <p:cNvSpPr txBox="1"/>
          <p:nvPr/>
        </p:nvSpPr>
        <p:spPr>
          <a:xfrm>
            <a:off x="6938427" y="5082143"/>
            <a:ext cx="4076700" cy="369332"/>
          </a:xfrm>
          <a:prstGeom prst="rect">
            <a:avLst/>
          </a:prstGeom>
          <a:noFill/>
        </p:spPr>
        <p:txBody>
          <a:bodyPr wrap="square" rtlCol="0">
            <a:spAutoFit/>
          </a:bodyPr>
          <a:lstStyle/>
          <a:p>
            <a:pPr algn="ctr"/>
            <a:r>
              <a:rPr lang="en-US" altLang="zh-CN" dirty="0">
                <a:latin typeface="Times New Roman" panose="02020603050405020304" pitchFamily="18" charset="0"/>
                <a:ea typeface="黑体" panose="02010609060101010101" pitchFamily="49" charset="-122"/>
                <a:cs typeface="Times New Roman" panose="02020603050405020304" pitchFamily="18" charset="0"/>
              </a:rPr>
              <a:t>Wilcoxon</a:t>
            </a:r>
            <a:r>
              <a:rPr lang="zh-CN" altLang="en-US" dirty="0">
                <a:latin typeface="Times New Roman" panose="02020603050405020304" pitchFamily="18" charset="0"/>
                <a:ea typeface="黑体" panose="02010609060101010101" pitchFamily="49" charset="-122"/>
                <a:cs typeface="Times New Roman" panose="02020603050405020304" pitchFamily="18" charset="0"/>
              </a:rPr>
              <a:t>检验（显著性</a:t>
            </a:r>
            <a:r>
              <a:rPr lang="en-US" altLang="zh-CN" dirty="0">
                <a:latin typeface="Times New Roman" panose="02020603050405020304" pitchFamily="18" charset="0"/>
                <a:ea typeface="黑体" panose="02010609060101010101" pitchFamily="49" charset="-122"/>
                <a:cs typeface="Times New Roman" panose="02020603050405020304" pitchFamily="18" charset="0"/>
              </a:rPr>
              <a:t>0.05</a:t>
            </a:r>
            <a:r>
              <a:rPr lang="zh-CN" altLang="en-US" dirty="0">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6" name="内容占位符 2">
            <a:extLst>
              <a:ext uri="{FF2B5EF4-FFF2-40B4-BE49-F238E27FC236}">
                <a16:creationId xmlns:a16="http://schemas.microsoft.com/office/drawing/2014/main" id="{BDD5E228-E797-DE1F-8361-1ED63D1D2A3D}"/>
              </a:ext>
            </a:extLst>
          </p:cNvPr>
          <p:cNvSpPr txBox="1">
            <a:spLocks/>
          </p:cNvSpPr>
          <p:nvPr/>
        </p:nvSpPr>
        <p:spPr>
          <a:xfrm>
            <a:off x="988459" y="5095856"/>
            <a:ext cx="5400867" cy="151233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从不同算法的结果对比中，可以看出在</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4</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项指标上，</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NOA-</a:t>
            </a:r>
            <a:r>
              <a:rPr lang="en-US" altLang="zh-CN" sz="2000" dirty="0" err="1">
                <a:latin typeface="Times New Roman" panose="02020603050405020304" pitchFamily="18" charset="0"/>
                <a:ea typeface="黑体" panose="02010609060101010101" pitchFamily="49" charset="-122"/>
                <a:cs typeface="Times New Roman" panose="02020603050405020304" pitchFamily="18" charset="0"/>
              </a:rPr>
              <a:t>SVM</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均明显优于其他对比算法。</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Wilcoxon</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秩和检验的结果可以支持这一判断。在显著性为</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0.05</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的检验下，</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NOA-SVM</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在所有指标上优于对比算法。</a:t>
            </a:r>
          </a:p>
        </p:txBody>
      </p:sp>
      <p:graphicFrame>
        <p:nvGraphicFramePr>
          <p:cNvPr id="26" name="表格 25">
            <a:extLst>
              <a:ext uri="{FF2B5EF4-FFF2-40B4-BE49-F238E27FC236}">
                <a16:creationId xmlns:a16="http://schemas.microsoft.com/office/drawing/2014/main" id="{4231B7AE-F550-05E8-F799-6DFC930571AA}"/>
              </a:ext>
            </a:extLst>
          </p:cNvPr>
          <p:cNvGraphicFramePr>
            <a:graphicFrameLocks noGrp="1"/>
          </p:cNvGraphicFramePr>
          <p:nvPr>
            <p:extLst>
              <p:ext uri="{D42A27DB-BD31-4B8C-83A1-F6EECF244321}">
                <p14:modId xmlns:p14="http://schemas.microsoft.com/office/powerpoint/2010/main" val="2517154466"/>
              </p:ext>
            </p:extLst>
          </p:nvPr>
        </p:nvGraphicFramePr>
        <p:xfrm>
          <a:off x="988459" y="1399188"/>
          <a:ext cx="10026668" cy="3498289"/>
        </p:xfrm>
        <a:graphic>
          <a:graphicData uri="http://schemas.openxmlformats.org/drawingml/2006/table">
            <a:tbl>
              <a:tblPr>
                <a:tableStyleId>{22838BEF-8BB2-4498-84A7-C5851F593DF1}</a:tableStyleId>
              </a:tblPr>
              <a:tblGrid>
                <a:gridCol w="532232">
                  <a:extLst>
                    <a:ext uri="{9D8B030D-6E8A-4147-A177-3AD203B41FA5}">
                      <a16:colId xmlns:a16="http://schemas.microsoft.com/office/drawing/2014/main" val="697856783"/>
                    </a:ext>
                  </a:extLst>
                </a:gridCol>
                <a:gridCol w="912927">
                  <a:extLst>
                    <a:ext uri="{9D8B030D-6E8A-4147-A177-3AD203B41FA5}">
                      <a16:colId xmlns:a16="http://schemas.microsoft.com/office/drawing/2014/main" val="2326458560"/>
                    </a:ext>
                  </a:extLst>
                </a:gridCol>
                <a:gridCol w="730341">
                  <a:extLst>
                    <a:ext uri="{9D8B030D-6E8A-4147-A177-3AD203B41FA5}">
                      <a16:colId xmlns:a16="http://schemas.microsoft.com/office/drawing/2014/main" val="1266618339"/>
                    </a:ext>
                  </a:extLst>
                </a:gridCol>
                <a:gridCol w="730341">
                  <a:extLst>
                    <a:ext uri="{9D8B030D-6E8A-4147-A177-3AD203B41FA5}">
                      <a16:colId xmlns:a16="http://schemas.microsoft.com/office/drawing/2014/main" val="1574894389"/>
                    </a:ext>
                  </a:extLst>
                </a:gridCol>
                <a:gridCol w="912927">
                  <a:extLst>
                    <a:ext uri="{9D8B030D-6E8A-4147-A177-3AD203B41FA5}">
                      <a16:colId xmlns:a16="http://schemas.microsoft.com/office/drawing/2014/main" val="3805803737"/>
                    </a:ext>
                  </a:extLst>
                </a:gridCol>
                <a:gridCol w="730341">
                  <a:extLst>
                    <a:ext uri="{9D8B030D-6E8A-4147-A177-3AD203B41FA5}">
                      <a16:colId xmlns:a16="http://schemas.microsoft.com/office/drawing/2014/main" val="3830834213"/>
                    </a:ext>
                  </a:extLst>
                </a:gridCol>
                <a:gridCol w="730341">
                  <a:extLst>
                    <a:ext uri="{9D8B030D-6E8A-4147-A177-3AD203B41FA5}">
                      <a16:colId xmlns:a16="http://schemas.microsoft.com/office/drawing/2014/main" val="74413492"/>
                    </a:ext>
                  </a:extLst>
                </a:gridCol>
                <a:gridCol w="912927">
                  <a:extLst>
                    <a:ext uri="{9D8B030D-6E8A-4147-A177-3AD203B41FA5}">
                      <a16:colId xmlns:a16="http://schemas.microsoft.com/office/drawing/2014/main" val="2713803635"/>
                    </a:ext>
                  </a:extLst>
                </a:gridCol>
                <a:gridCol w="730341">
                  <a:extLst>
                    <a:ext uri="{9D8B030D-6E8A-4147-A177-3AD203B41FA5}">
                      <a16:colId xmlns:a16="http://schemas.microsoft.com/office/drawing/2014/main" val="4196758150"/>
                    </a:ext>
                  </a:extLst>
                </a:gridCol>
                <a:gridCol w="730341">
                  <a:extLst>
                    <a:ext uri="{9D8B030D-6E8A-4147-A177-3AD203B41FA5}">
                      <a16:colId xmlns:a16="http://schemas.microsoft.com/office/drawing/2014/main" val="4058256525"/>
                    </a:ext>
                  </a:extLst>
                </a:gridCol>
                <a:gridCol w="912927">
                  <a:extLst>
                    <a:ext uri="{9D8B030D-6E8A-4147-A177-3AD203B41FA5}">
                      <a16:colId xmlns:a16="http://schemas.microsoft.com/office/drawing/2014/main" val="67006700"/>
                    </a:ext>
                  </a:extLst>
                </a:gridCol>
                <a:gridCol w="730341">
                  <a:extLst>
                    <a:ext uri="{9D8B030D-6E8A-4147-A177-3AD203B41FA5}">
                      <a16:colId xmlns:a16="http://schemas.microsoft.com/office/drawing/2014/main" val="4235912293"/>
                    </a:ext>
                  </a:extLst>
                </a:gridCol>
                <a:gridCol w="730341">
                  <a:extLst>
                    <a:ext uri="{9D8B030D-6E8A-4147-A177-3AD203B41FA5}">
                      <a16:colId xmlns:a16="http://schemas.microsoft.com/office/drawing/2014/main" val="1044054359"/>
                    </a:ext>
                  </a:extLst>
                </a:gridCol>
              </a:tblGrid>
              <a:tr h="269550">
                <a:tc rowSpan="2">
                  <a:txBody>
                    <a:bodyPr/>
                    <a:lstStyle/>
                    <a:p>
                      <a:pPr algn="ctr" fontAlgn="ctr"/>
                      <a:r>
                        <a:rPr lang="zh-CN" altLang="en-US" sz="150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轮数</a:t>
                      </a:r>
                      <a:endParaRPr lang="zh-CN" altLang="en-US" sz="150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gridSpan="3">
                  <a:txBody>
                    <a:bodyPr/>
                    <a:lstStyle/>
                    <a:p>
                      <a:pPr algn="ctr" fontAlgn="ctr"/>
                      <a:r>
                        <a:rPr lang="zh-CN" altLang="en-US" sz="150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准确率</a:t>
                      </a:r>
                      <a:endParaRPr lang="zh-CN" altLang="en-US" sz="150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hMerge="1">
                  <a:txBody>
                    <a:bodyPr/>
                    <a:lstStyle/>
                    <a:p>
                      <a:endParaRPr lang="zh-CN" altLang="en-US"/>
                    </a:p>
                  </a:txBody>
                  <a:tcPr/>
                </a:tc>
                <a:tc hMerge="1">
                  <a:txBody>
                    <a:bodyPr/>
                    <a:lstStyle/>
                    <a:p>
                      <a:endParaRPr lang="zh-CN" altLang="en-US"/>
                    </a:p>
                  </a:txBody>
                  <a:tcPr/>
                </a:tc>
                <a:tc gridSpan="3">
                  <a:txBody>
                    <a:bodyPr/>
                    <a:lstStyle/>
                    <a:p>
                      <a:pPr algn="ctr" fontAlgn="ctr"/>
                      <a:r>
                        <a:rPr lang="zh-CN" altLang="en-US" sz="150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查准率</a:t>
                      </a:r>
                      <a:endParaRPr lang="zh-CN" altLang="en-US" sz="150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hMerge="1">
                  <a:txBody>
                    <a:bodyPr/>
                    <a:lstStyle/>
                    <a:p>
                      <a:endParaRPr lang="zh-CN" altLang="en-US"/>
                    </a:p>
                  </a:txBody>
                  <a:tcPr/>
                </a:tc>
                <a:tc hMerge="1">
                  <a:txBody>
                    <a:bodyPr/>
                    <a:lstStyle/>
                    <a:p>
                      <a:endParaRPr lang="zh-CN" altLang="en-US"/>
                    </a:p>
                  </a:txBody>
                  <a:tcPr/>
                </a:tc>
                <a:tc gridSpan="3">
                  <a:txBody>
                    <a:bodyPr/>
                    <a:lstStyle/>
                    <a:p>
                      <a:pPr algn="ctr" fontAlgn="ctr"/>
                      <a:r>
                        <a:rPr lang="zh-CN" altLang="en-US" sz="150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查全率</a:t>
                      </a:r>
                      <a:endParaRPr lang="zh-CN" altLang="en-US" sz="150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hMerge="1">
                  <a:txBody>
                    <a:bodyPr/>
                    <a:lstStyle/>
                    <a:p>
                      <a:endParaRPr lang="zh-CN" altLang="en-US"/>
                    </a:p>
                  </a:txBody>
                  <a:tcPr/>
                </a:tc>
                <a:tc hMerge="1">
                  <a:txBody>
                    <a:bodyPr/>
                    <a:lstStyle/>
                    <a:p>
                      <a:endParaRPr lang="zh-CN" altLang="en-US"/>
                    </a:p>
                  </a:txBody>
                  <a:tcPr/>
                </a:tc>
                <a:tc gridSpan="3">
                  <a:txBody>
                    <a:bodyPr/>
                    <a:lstStyle/>
                    <a:p>
                      <a:pPr algn="ctr" fontAlgn="ctr"/>
                      <a:r>
                        <a:rPr lang="en-US" sz="1500" b="1" u="none" strike="noStrike" dirty="0" err="1">
                          <a:effectLst/>
                          <a:latin typeface="Times New Roman" panose="02020603050405020304" pitchFamily="18" charset="0"/>
                          <a:ea typeface="黑体" panose="02010609060101010101" pitchFamily="49" charset="-122"/>
                          <a:cs typeface="Times New Roman" panose="02020603050405020304" pitchFamily="18" charset="0"/>
                        </a:rPr>
                        <a:t>F1</a:t>
                      </a:r>
                      <a:r>
                        <a:rPr lang="zh-CN" altLang="en-US" sz="150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分数</a:t>
                      </a:r>
                      <a:endParaRPr lang="zh-CN" altLang="en-US" sz="150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53549401"/>
                  </a:ext>
                </a:extLst>
              </a:tr>
              <a:tr h="532526">
                <a:tc vMerge="1">
                  <a:txBody>
                    <a:bodyPr/>
                    <a:lstStyle/>
                    <a:p>
                      <a:endParaRPr lang="zh-CN" altLang="en-US"/>
                    </a:p>
                  </a:txBody>
                  <a:tcPr/>
                </a:tc>
                <a:tc>
                  <a:txBody>
                    <a:bodyPr/>
                    <a:lstStyle/>
                    <a:p>
                      <a:pPr algn="ctr" fontAlgn="ctr"/>
                      <a:r>
                        <a:rPr lang="en-US" sz="1500" b="0" u="none" strike="noStrike" dirty="0">
                          <a:effectLst/>
                          <a:latin typeface="Times New Roman" panose="02020603050405020304" pitchFamily="18" charset="0"/>
                          <a:ea typeface="黑体" panose="02010609060101010101" pitchFamily="49" charset="-122"/>
                          <a:cs typeface="Times New Roman" panose="02020603050405020304" pitchFamily="18" charset="0"/>
                        </a:rPr>
                        <a:t>NOA-</a:t>
                      </a:r>
                      <a:r>
                        <a:rPr lang="en-US" sz="1500" b="0" u="none" strike="noStrike" dirty="0" err="1">
                          <a:effectLst/>
                          <a:latin typeface="Times New Roman" panose="02020603050405020304" pitchFamily="18" charset="0"/>
                          <a:ea typeface="黑体" panose="02010609060101010101" pitchFamily="49" charset="-122"/>
                          <a:cs typeface="Times New Roman" panose="02020603050405020304" pitchFamily="18" charset="0"/>
                        </a:rPr>
                        <a:t>SVM</a:t>
                      </a:r>
                      <a:endParaRPr lang="en-US"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sz="1500" b="0" u="none" strike="noStrike" dirty="0" err="1">
                          <a:effectLst/>
                          <a:latin typeface="Times New Roman" panose="02020603050405020304" pitchFamily="18" charset="0"/>
                          <a:ea typeface="黑体" panose="02010609060101010101" pitchFamily="49" charset="-122"/>
                          <a:cs typeface="Times New Roman" panose="02020603050405020304" pitchFamily="18" charset="0"/>
                        </a:rPr>
                        <a:t>SVM</a:t>
                      </a:r>
                      <a:endParaRPr lang="en-US"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zh-CN" altLang="en-US" sz="1500" b="0" u="none" strike="noStrike" dirty="0">
                          <a:effectLst/>
                          <a:latin typeface="Times New Roman" panose="02020603050405020304" pitchFamily="18" charset="0"/>
                          <a:ea typeface="黑体" panose="02010609060101010101" pitchFamily="49" charset="-122"/>
                          <a:cs typeface="Times New Roman" panose="02020603050405020304" pitchFamily="18" charset="0"/>
                        </a:rPr>
                        <a:t>决策树</a:t>
                      </a:r>
                      <a:endParaRPr lang="zh-CN" altLang="en-US"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sz="1500" b="0" u="none" strike="noStrike" dirty="0">
                          <a:effectLst/>
                          <a:latin typeface="Times New Roman" panose="02020603050405020304" pitchFamily="18" charset="0"/>
                          <a:ea typeface="黑体" panose="02010609060101010101" pitchFamily="49" charset="-122"/>
                          <a:cs typeface="Times New Roman" panose="02020603050405020304" pitchFamily="18" charset="0"/>
                        </a:rPr>
                        <a:t>NOA-</a:t>
                      </a:r>
                      <a:r>
                        <a:rPr lang="en-US" sz="1500" b="0" u="none" strike="noStrike" dirty="0" err="1">
                          <a:effectLst/>
                          <a:latin typeface="Times New Roman" panose="02020603050405020304" pitchFamily="18" charset="0"/>
                          <a:ea typeface="黑体" panose="02010609060101010101" pitchFamily="49" charset="-122"/>
                          <a:cs typeface="Times New Roman" panose="02020603050405020304" pitchFamily="18" charset="0"/>
                        </a:rPr>
                        <a:t>SVM</a:t>
                      </a:r>
                      <a:endParaRPr lang="en-US"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sz="1500" b="0" u="none" strike="noStrike" dirty="0" err="1">
                          <a:effectLst/>
                          <a:latin typeface="Times New Roman" panose="02020603050405020304" pitchFamily="18" charset="0"/>
                          <a:ea typeface="黑体" panose="02010609060101010101" pitchFamily="49" charset="-122"/>
                          <a:cs typeface="Times New Roman" panose="02020603050405020304" pitchFamily="18" charset="0"/>
                        </a:rPr>
                        <a:t>SVM</a:t>
                      </a:r>
                      <a:endParaRPr lang="en-US"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zh-CN" altLang="en-US" sz="1500" b="0" u="none" strike="noStrike" dirty="0">
                          <a:effectLst/>
                          <a:latin typeface="Times New Roman" panose="02020603050405020304" pitchFamily="18" charset="0"/>
                          <a:ea typeface="黑体" panose="02010609060101010101" pitchFamily="49" charset="-122"/>
                          <a:cs typeface="Times New Roman" panose="02020603050405020304" pitchFamily="18" charset="0"/>
                        </a:rPr>
                        <a:t>决策树</a:t>
                      </a:r>
                      <a:endParaRPr lang="zh-CN" altLang="en-US"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sz="1500" b="0" u="none" strike="noStrike" dirty="0">
                          <a:effectLst/>
                          <a:latin typeface="Times New Roman" panose="02020603050405020304" pitchFamily="18" charset="0"/>
                          <a:ea typeface="黑体" panose="02010609060101010101" pitchFamily="49" charset="-122"/>
                          <a:cs typeface="Times New Roman" panose="02020603050405020304" pitchFamily="18" charset="0"/>
                        </a:rPr>
                        <a:t>NOA-</a:t>
                      </a:r>
                      <a:r>
                        <a:rPr lang="en-US" sz="1500" b="0" u="none" strike="noStrike" dirty="0" err="1">
                          <a:effectLst/>
                          <a:latin typeface="Times New Roman" panose="02020603050405020304" pitchFamily="18" charset="0"/>
                          <a:ea typeface="黑体" panose="02010609060101010101" pitchFamily="49" charset="-122"/>
                          <a:cs typeface="Times New Roman" panose="02020603050405020304" pitchFamily="18" charset="0"/>
                        </a:rPr>
                        <a:t>SVM</a:t>
                      </a:r>
                      <a:endParaRPr lang="en-US"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sz="1500" b="0" u="none" strike="noStrike" dirty="0" err="1">
                          <a:effectLst/>
                          <a:latin typeface="Times New Roman" panose="02020603050405020304" pitchFamily="18" charset="0"/>
                          <a:ea typeface="黑体" panose="02010609060101010101" pitchFamily="49" charset="-122"/>
                          <a:cs typeface="Times New Roman" panose="02020603050405020304" pitchFamily="18" charset="0"/>
                        </a:rPr>
                        <a:t>SVM</a:t>
                      </a:r>
                      <a:endParaRPr lang="en-US"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zh-CN" altLang="en-US" sz="1500" b="0" u="none" strike="noStrike" dirty="0">
                          <a:effectLst/>
                          <a:latin typeface="Times New Roman" panose="02020603050405020304" pitchFamily="18" charset="0"/>
                          <a:ea typeface="黑体" panose="02010609060101010101" pitchFamily="49" charset="-122"/>
                          <a:cs typeface="Times New Roman" panose="02020603050405020304" pitchFamily="18" charset="0"/>
                        </a:rPr>
                        <a:t>决策树</a:t>
                      </a:r>
                      <a:endParaRPr lang="zh-CN" altLang="en-US"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sz="1500" b="0" u="none" strike="noStrike" dirty="0">
                          <a:effectLst/>
                          <a:latin typeface="Times New Roman" panose="02020603050405020304" pitchFamily="18" charset="0"/>
                          <a:ea typeface="黑体" panose="02010609060101010101" pitchFamily="49" charset="-122"/>
                          <a:cs typeface="Times New Roman" panose="02020603050405020304" pitchFamily="18" charset="0"/>
                        </a:rPr>
                        <a:t>NOA-</a:t>
                      </a:r>
                      <a:r>
                        <a:rPr lang="en-US" sz="1500" b="0" u="none" strike="noStrike" dirty="0" err="1">
                          <a:effectLst/>
                          <a:latin typeface="Times New Roman" panose="02020603050405020304" pitchFamily="18" charset="0"/>
                          <a:ea typeface="黑体" panose="02010609060101010101" pitchFamily="49" charset="-122"/>
                          <a:cs typeface="Times New Roman" panose="02020603050405020304" pitchFamily="18" charset="0"/>
                        </a:rPr>
                        <a:t>SVM</a:t>
                      </a:r>
                      <a:endParaRPr lang="en-US"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sz="1500" b="0" u="none" strike="noStrike" dirty="0" err="1">
                          <a:effectLst/>
                          <a:latin typeface="Times New Roman" panose="02020603050405020304" pitchFamily="18" charset="0"/>
                          <a:ea typeface="黑体" panose="02010609060101010101" pitchFamily="49" charset="-122"/>
                          <a:cs typeface="Times New Roman" panose="02020603050405020304" pitchFamily="18" charset="0"/>
                        </a:rPr>
                        <a:t>SVM</a:t>
                      </a:r>
                      <a:endParaRPr lang="en-US"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zh-CN" altLang="en-US" sz="1500" b="0" u="none" strike="noStrike" dirty="0">
                          <a:effectLst/>
                          <a:latin typeface="Times New Roman" panose="02020603050405020304" pitchFamily="18" charset="0"/>
                          <a:ea typeface="黑体" panose="02010609060101010101" pitchFamily="49" charset="-122"/>
                          <a:cs typeface="Times New Roman" panose="02020603050405020304" pitchFamily="18" charset="0"/>
                        </a:rPr>
                        <a:t>决策树</a:t>
                      </a:r>
                      <a:endParaRPr lang="zh-CN" altLang="en-US"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extLst>
                  <a:ext uri="{0D108BD9-81ED-4DB2-BD59-A6C34878D82A}">
                    <a16:rowId xmlns:a16="http://schemas.microsoft.com/office/drawing/2014/main" val="3656064314"/>
                  </a:ext>
                </a:extLst>
              </a:tr>
              <a:tr h="269550">
                <a:tc>
                  <a:txBody>
                    <a:bodyPr/>
                    <a:lstStyle/>
                    <a:p>
                      <a:pPr algn="ctr" fontAlgn="ctr"/>
                      <a:r>
                        <a:rPr lang="en-US" altLang="zh-CN" sz="150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1</a:t>
                      </a: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0.953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0.927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0.913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0.961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0.939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0.926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0.953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0.927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0.913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0.952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0.926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0.911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extLst>
                  <a:ext uri="{0D108BD9-81ED-4DB2-BD59-A6C34878D82A}">
                    <a16:rowId xmlns:a16="http://schemas.microsoft.com/office/drawing/2014/main" val="1849801759"/>
                  </a:ext>
                </a:extLst>
              </a:tr>
              <a:tr h="270263">
                <a:tc>
                  <a:txBody>
                    <a:bodyPr/>
                    <a:lstStyle/>
                    <a:p>
                      <a:pPr algn="ctr" fontAlgn="ctr"/>
                      <a:r>
                        <a:rPr lang="en-US" altLang="zh-CN" sz="150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0.960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0.907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0.907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0.963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0.923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0.933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0.960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0.907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0.907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0.959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0.905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0.908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extLst>
                  <a:ext uri="{0D108BD9-81ED-4DB2-BD59-A6C34878D82A}">
                    <a16:rowId xmlns:a16="http://schemas.microsoft.com/office/drawing/2014/main" val="118969078"/>
                  </a:ext>
                </a:extLst>
              </a:tr>
              <a:tr h="269550">
                <a:tc>
                  <a:txBody>
                    <a:bodyPr/>
                    <a:lstStyle/>
                    <a:p>
                      <a:pPr algn="ctr" fontAlgn="ctr"/>
                      <a:r>
                        <a:rPr lang="en-US" altLang="zh-CN" sz="150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3</a:t>
                      </a: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0.960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0.907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0.933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0.970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0.941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0.944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0.960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0.907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0.933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0.960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0.902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0.933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extLst>
                  <a:ext uri="{0D108BD9-81ED-4DB2-BD59-A6C34878D82A}">
                    <a16:rowId xmlns:a16="http://schemas.microsoft.com/office/drawing/2014/main" val="3933877760"/>
                  </a:ext>
                </a:extLst>
              </a:tr>
              <a:tr h="269550">
                <a:tc>
                  <a:txBody>
                    <a:bodyPr/>
                    <a:lstStyle/>
                    <a:p>
                      <a:pPr algn="ctr" fontAlgn="ctr"/>
                      <a:r>
                        <a:rPr lang="en-US" altLang="zh-CN" sz="150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4</a:t>
                      </a: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0.960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0.893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0.940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0.964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0.920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0.957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0.960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0.893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0.940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0.961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0.891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0.942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extLst>
                  <a:ext uri="{0D108BD9-81ED-4DB2-BD59-A6C34878D82A}">
                    <a16:rowId xmlns:a16="http://schemas.microsoft.com/office/drawing/2014/main" val="2399617662"/>
                  </a:ext>
                </a:extLst>
              </a:tr>
              <a:tr h="269550">
                <a:tc>
                  <a:txBody>
                    <a:bodyPr/>
                    <a:lstStyle/>
                    <a:p>
                      <a:pPr algn="ctr" fontAlgn="ctr"/>
                      <a:r>
                        <a:rPr lang="en-US" altLang="zh-CN" sz="150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5</a:t>
                      </a: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0.960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0.940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0.933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0.971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0.958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0.951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0.960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0.940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0.933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0.961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0.941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0.936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extLst>
                  <a:ext uri="{0D108BD9-81ED-4DB2-BD59-A6C34878D82A}">
                    <a16:rowId xmlns:a16="http://schemas.microsoft.com/office/drawing/2014/main" val="3964831227"/>
                  </a:ext>
                </a:extLst>
              </a:tr>
              <a:tr h="269550">
                <a:tc>
                  <a:txBody>
                    <a:bodyPr/>
                    <a:lstStyle/>
                    <a:p>
                      <a:pPr algn="ctr" fontAlgn="ctr"/>
                      <a:r>
                        <a:rPr lang="en-US" altLang="zh-CN" sz="150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6</a:t>
                      </a: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0.960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0.907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0.933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0.966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0.917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0.949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0.960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0.907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0.933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0.960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0.906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0.932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extLst>
                  <a:ext uri="{0D108BD9-81ED-4DB2-BD59-A6C34878D82A}">
                    <a16:rowId xmlns:a16="http://schemas.microsoft.com/office/drawing/2014/main" val="1012999414"/>
                  </a:ext>
                </a:extLst>
              </a:tr>
              <a:tr h="269550">
                <a:tc>
                  <a:txBody>
                    <a:bodyPr/>
                    <a:lstStyle/>
                    <a:p>
                      <a:pPr algn="ctr" fontAlgn="ctr"/>
                      <a:r>
                        <a:rPr lang="en-US" altLang="zh-CN" sz="150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7</a:t>
                      </a: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0.953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0.927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0.920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0.965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0.945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0.936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0.953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0.927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0.920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0.951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0.922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0.918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extLst>
                  <a:ext uri="{0D108BD9-81ED-4DB2-BD59-A6C34878D82A}">
                    <a16:rowId xmlns:a16="http://schemas.microsoft.com/office/drawing/2014/main" val="408493311"/>
                  </a:ext>
                </a:extLst>
              </a:tr>
              <a:tr h="269550">
                <a:tc>
                  <a:txBody>
                    <a:bodyPr/>
                    <a:lstStyle/>
                    <a:p>
                      <a:pPr algn="ctr" fontAlgn="ctr"/>
                      <a:r>
                        <a:rPr lang="en-US" altLang="zh-CN" sz="150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8</a:t>
                      </a: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0.967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0.920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0.913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0.975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0.940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0.924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0.967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0.920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0.913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0.966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0.916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0.914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extLst>
                  <a:ext uri="{0D108BD9-81ED-4DB2-BD59-A6C34878D82A}">
                    <a16:rowId xmlns:a16="http://schemas.microsoft.com/office/drawing/2014/main" val="3989843696"/>
                  </a:ext>
                </a:extLst>
              </a:tr>
              <a:tr h="269550">
                <a:tc>
                  <a:txBody>
                    <a:bodyPr/>
                    <a:lstStyle/>
                    <a:p>
                      <a:pPr algn="ctr" fontAlgn="ctr"/>
                      <a:r>
                        <a:rPr lang="en-US" altLang="zh-CN" sz="150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9</a:t>
                      </a: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0.960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0.900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0.920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0.969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0.916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0.934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0.960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0.900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0.920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0.959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0.895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0.921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extLst>
                  <a:ext uri="{0D108BD9-81ED-4DB2-BD59-A6C34878D82A}">
                    <a16:rowId xmlns:a16="http://schemas.microsoft.com/office/drawing/2014/main" val="4120012435"/>
                  </a:ext>
                </a:extLst>
              </a:tr>
              <a:tr h="269550">
                <a:tc>
                  <a:txBody>
                    <a:bodyPr/>
                    <a:lstStyle/>
                    <a:p>
                      <a:pPr algn="ctr" fontAlgn="ctr"/>
                      <a:r>
                        <a:rPr lang="en-US" altLang="zh-CN" sz="150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10</a:t>
                      </a: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0.967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0.940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0.920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0.972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0.956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0.927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0.967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0.940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0.920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0.966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solidFill>
                      <a:schemeClr val="tx2">
                        <a:lumMod val="75000"/>
                      </a:schemeClr>
                    </a:solidFill>
                  </a:tcP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0.938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tc>
                  <a:txBody>
                    <a:bodyPr/>
                    <a:lstStyle/>
                    <a:p>
                      <a:pPr algn="ctr" fontAlgn="ctr"/>
                      <a:r>
                        <a:rPr lang="en-US" altLang="zh-CN" sz="1500" u="none" strike="noStrike" dirty="0">
                          <a:effectLst/>
                          <a:latin typeface="Times New Roman" panose="02020603050405020304" pitchFamily="18" charset="0"/>
                          <a:ea typeface="黑体" panose="02010609060101010101" pitchFamily="49" charset="-122"/>
                          <a:cs typeface="Times New Roman" panose="02020603050405020304" pitchFamily="18" charset="0"/>
                        </a:rPr>
                        <a:t>0.919 </a:t>
                      </a:r>
                      <a:endParaRPr lang="en-US" altLang="zh-CN" sz="15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7620" marR="7620" marT="7620" marB="0" anchor="ctr"/>
                </a:tc>
                <a:extLst>
                  <a:ext uri="{0D108BD9-81ED-4DB2-BD59-A6C34878D82A}">
                    <a16:rowId xmlns:a16="http://schemas.microsoft.com/office/drawing/2014/main" val="4145834372"/>
                  </a:ext>
                </a:extLst>
              </a:tr>
            </a:tbl>
          </a:graphicData>
        </a:graphic>
      </p:graphicFrame>
    </p:spTree>
    <p:extLst>
      <p:ext uri="{BB962C8B-B14F-4D97-AF65-F5344CB8AC3E}">
        <p14:creationId xmlns:p14="http://schemas.microsoft.com/office/powerpoint/2010/main" val="41703742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C976C-E3F0-CD8B-42A2-B8761EC4F49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14408D5-CA1B-051D-A3F0-B5CDCF5A6EDB}"/>
              </a:ext>
            </a:extLst>
          </p:cNvPr>
          <p:cNvSpPr>
            <a:spLocks noGrp="1"/>
          </p:cNvSpPr>
          <p:nvPr>
            <p:ph type="title"/>
          </p:nvPr>
        </p:nvSpPr>
        <p:spPr>
          <a:xfrm>
            <a:off x="1143001" y="0"/>
            <a:ext cx="9905998" cy="1478570"/>
          </a:xfrm>
        </p:spPr>
        <p:txBody>
          <a:bodyPr/>
          <a:lstStyle/>
          <a:p>
            <a:r>
              <a:rPr lang="zh-CN" altLang="en-US" dirty="0">
                <a:latin typeface="黑体" panose="02010609060101010101" pitchFamily="49" charset="-122"/>
                <a:ea typeface="黑体" panose="02010609060101010101" pitchFamily="49" charset="-122"/>
              </a:rPr>
              <a:t>混淆矩阵</a:t>
            </a:r>
            <a:r>
              <a:rPr lang="zh-CN" altLang="en-US"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Iris</a:t>
            </a:r>
            <a:r>
              <a:rPr lang="zh-CN" altLang="en-US" dirty="0">
                <a:latin typeface="Times New Roman" panose="02020603050405020304" pitchFamily="18" charset="0"/>
                <a:ea typeface="黑体" panose="02010609060101010101" pitchFamily="49" charset="-122"/>
                <a:cs typeface="Times New Roman" panose="02020603050405020304" pitchFamily="18" charset="0"/>
              </a:rPr>
              <a:t>测试集</a:t>
            </a:r>
            <a:endParaRPr lang="zh-CN" altLang="en-US" dirty="0">
              <a:latin typeface="黑体" panose="02010609060101010101" pitchFamily="49" charset="-122"/>
              <a:ea typeface="黑体" panose="02010609060101010101" pitchFamily="49" charset="-122"/>
            </a:endParaRPr>
          </a:p>
        </p:txBody>
      </p:sp>
      <p:sp>
        <p:nvSpPr>
          <p:cNvPr id="9" name="内容占位符 2">
            <a:extLst>
              <a:ext uri="{FF2B5EF4-FFF2-40B4-BE49-F238E27FC236}">
                <a16:creationId xmlns:a16="http://schemas.microsoft.com/office/drawing/2014/main" id="{DF1FDE20-7C6D-ABF6-22EE-9B0669A56A4B}"/>
              </a:ext>
            </a:extLst>
          </p:cNvPr>
          <p:cNvSpPr txBox="1">
            <a:spLocks/>
          </p:cNvSpPr>
          <p:nvPr/>
        </p:nvSpPr>
        <p:spPr>
          <a:xfrm>
            <a:off x="458068" y="1571176"/>
            <a:ext cx="4442207" cy="33459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从分类结果的混淆矩阵来看，</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NOA-SVM</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模型对</a:t>
            </a:r>
            <a:r>
              <a:rPr lang="en-US" altLang="zh-CN" sz="2000" dirty="0" err="1">
                <a:latin typeface="Times New Roman" panose="02020603050405020304" pitchFamily="18" charset="0"/>
                <a:ea typeface="黑体" panose="02010609060101010101" pitchFamily="49" charset="-122"/>
                <a:cs typeface="Times New Roman" panose="02020603050405020304" pitchFamily="18" charset="0"/>
              </a:rPr>
              <a:t>Setosa</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类别的分类准确率达到</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100%</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，没有发生任何错误分类，而对于</a:t>
            </a:r>
            <a:r>
              <a:rPr lang="en-US" altLang="zh-CN" sz="2000" dirty="0" err="1">
                <a:latin typeface="Times New Roman" panose="02020603050405020304" pitchFamily="18" charset="0"/>
                <a:ea typeface="黑体" panose="02010609060101010101" pitchFamily="49" charset="-122"/>
                <a:cs typeface="Times New Roman" panose="02020603050405020304" pitchFamily="18" charset="0"/>
              </a:rPr>
              <a:t>Versicolour</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Virginica</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之间的分类，偶尔会出现混淆。</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查阅资料可知，</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000" dirty="0" err="1">
                <a:latin typeface="Times New Roman" panose="02020603050405020304" pitchFamily="18" charset="0"/>
                <a:ea typeface="黑体" panose="02010609060101010101" pitchFamily="49" charset="-122"/>
                <a:cs typeface="Times New Roman" panose="02020603050405020304" pitchFamily="18" charset="0"/>
              </a:rPr>
              <a:t>Setosa</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与其他两种之间可以通过线性方法轻易的进行区分，而剩下两者则较难区分。这与我得到的结果相吻合。</a:t>
            </a:r>
          </a:p>
        </p:txBody>
      </p:sp>
      <p:pic>
        <p:nvPicPr>
          <p:cNvPr id="7" name="图片 6">
            <a:extLst>
              <a:ext uri="{FF2B5EF4-FFF2-40B4-BE49-F238E27FC236}">
                <a16:creationId xmlns:a16="http://schemas.microsoft.com/office/drawing/2014/main" id="{EB1F9FD3-0800-852A-B1B4-05E2C8E3A2F0}"/>
              </a:ext>
            </a:extLst>
          </p:cNvPr>
          <p:cNvPicPr>
            <a:picLocks noChangeAspect="1"/>
          </p:cNvPicPr>
          <p:nvPr/>
        </p:nvPicPr>
        <p:blipFill>
          <a:blip r:embed="rId3">
            <a:extLst>
              <a:ext uri="{28A0092B-C50C-407E-A947-70E740481C1C}">
                <a14:useLocalDpi xmlns:a14="http://schemas.microsoft.com/office/drawing/2010/main" val="0"/>
              </a:ext>
            </a:extLst>
          </a:blip>
          <a:srcRect l="3319" t="3890" r="11554" b="-1"/>
          <a:stretch/>
        </p:blipFill>
        <p:spPr>
          <a:xfrm>
            <a:off x="5881991" y="1122633"/>
            <a:ext cx="5447489" cy="4612734"/>
          </a:xfrm>
          <a:prstGeom prst="rect">
            <a:avLst/>
          </a:prstGeom>
        </p:spPr>
      </p:pic>
    </p:spTree>
    <p:extLst>
      <p:ext uri="{BB962C8B-B14F-4D97-AF65-F5344CB8AC3E}">
        <p14:creationId xmlns:p14="http://schemas.microsoft.com/office/powerpoint/2010/main" val="32285664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5F6A4-A04F-22AA-A8E0-AAC238BD34D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36B7B03-38B7-13B7-D228-3C85793DF2CE}"/>
              </a:ext>
            </a:extLst>
          </p:cNvPr>
          <p:cNvSpPr>
            <a:spLocks noGrp="1"/>
          </p:cNvSpPr>
          <p:nvPr>
            <p:ph type="title"/>
          </p:nvPr>
        </p:nvSpPr>
        <p:spPr>
          <a:xfrm>
            <a:off x="1141413" y="7915"/>
            <a:ext cx="9905998" cy="1478570"/>
          </a:xfrm>
        </p:spPr>
        <p:txBody>
          <a:bodyPr/>
          <a:lstStyle/>
          <a:p>
            <a:r>
              <a:rPr lang="zh-CN" altLang="en-US" dirty="0">
                <a:latin typeface="黑体" panose="02010609060101010101" pitchFamily="49" charset="-122"/>
                <a:ea typeface="黑体" panose="02010609060101010101" pitchFamily="49" charset="-122"/>
              </a:rPr>
              <a:t>实验结果</a:t>
            </a:r>
            <a:r>
              <a:rPr lang="zh-CN" altLang="en-US"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4400" dirty="0">
                <a:latin typeface="Times New Roman" panose="02020603050405020304" pitchFamily="18" charset="0"/>
                <a:ea typeface="黑体" panose="02010609060101010101" pitchFamily="49" charset="-122"/>
                <a:cs typeface="Times New Roman" panose="02020603050405020304" pitchFamily="18" charset="0"/>
              </a:rPr>
              <a:t> Breast Cancer</a:t>
            </a:r>
            <a:r>
              <a:rPr lang="zh-CN" altLang="en-US" dirty="0">
                <a:latin typeface="Times New Roman" panose="02020603050405020304" pitchFamily="18" charset="0"/>
                <a:ea typeface="黑体" panose="02010609060101010101" pitchFamily="49" charset="-122"/>
                <a:cs typeface="Times New Roman" panose="02020603050405020304" pitchFamily="18" charset="0"/>
              </a:rPr>
              <a:t>测试集</a:t>
            </a:r>
            <a:endParaRPr lang="zh-CN" altLang="en-US" dirty="0">
              <a:latin typeface="黑体" panose="02010609060101010101" pitchFamily="49" charset="-122"/>
              <a:ea typeface="黑体" panose="02010609060101010101" pitchFamily="49" charset="-122"/>
            </a:endParaRPr>
          </a:p>
        </p:txBody>
      </p:sp>
      <p:sp>
        <p:nvSpPr>
          <p:cNvPr id="13" name="内容占位符 2">
            <a:extLst>
              <a:ext uri="{FF2B5EF4-FFF2-40B4-BE49-F238E27FC236}">
                <a16:creationId xmlns:a16="http://schemas.microsoft.com/office/drawing/2014/main" id="{3ED6184D-0691-79B1-40D6-48B90AD8742D}"/>
              </a:ext>
            </a:extLst>
          </p:cNvPr>
          <p:cNvSpPr txBox="1">
            <a:spLocks/>
          </p:cNvSpPr>
          <p:nvPr/>
        </p:nvSpPr>
        <p:spPr>
          <a:xfrm>
            <a:off x="458067" y="1610800"/>
            <a:ext cx="2722878" cy="194413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从不同算法的箱线图对比中，可以看出</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NOA-SVM</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在多项指标上的分布明显优于对比算法，且波动性较小，表明其性能更加稳定，鲁棒性更强。</a:t>
            </a:r>
          </a:p>
        </p:txBody>
      </p:sp>
      <p:pic>
        <p:nvPicPr>
          <p:cNvPr id="4" name="图片 3">
            <a:extLst>
              <a:ext uri="{FF2B5EF4-FFF2-40B4-BE49-F238E27FC236}">
                <a16:creationId xmlns:a16="http://schemas.microsoft.com/office/drawing/2014/main" id="{25BFDCBC-A4B4-EA9E-ED75-A453A5215337}"/>
              </a:ext>
            </a:extLst>
          </p:cNvPr>
          <p:cNvPicPr>
            <a:picLocks noChangeAspect="1"/>
          </p:cNvPicPr>
          <p:nvPr/>
        </p:nvPicPr>
        <p:blipFill>
          <a:blip r:embed="rId3">
            <a:extLst>
              <a:ext uri="{28A0092B-C50C-407E-A947-70E740481C1C}">
                <a14:useLocalDpi xmlns:a14="http://schemas.microsoft.com/office/drawing/2010/main" val="0"/>
              </a:ext>
            </a:extLst>
          </a:blip>
          <a:srcRect l="8458" t="8217" r="9388" b="11371"/>
          <a:stretch/>
        </p:blipFill>
        <p:spPr>
          <a:xfrm>
            <a:off x="3357738" y="1176458"/>
            <a:ext cx="8730993" cy="4756948"/>
          </a:xfrm>
          <a:prstGeom prst="rect">
            <a:avLst/>
          </a:prstGeom>
        </p:spPr>
      </p:pic>
    </p:spTree>
    <p:extLst>
      <p:ext uri="{BB962C8B-B14F-4D97-AF65-F5344CB8AC3E}">
        <p14:creationId xmlns:p14="http://schemas.microsoft.com/office/powerpoint/2010/main" val="32814346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781859-1FDD-6839-A16E-967A1F600318}"/>
              </a:ext>
            </a:extLst>
          </p:cNvPr>
          <p:cNvSpPr>
            <a:spLocks noGrp="1"/>
          </p:cNvSpPr>
          <p:nvPr>
            <p:ph type="title"/>
          </p:nvPr>
        </p:nvSpPr>
        <p:spPr>
          <a:xfrm>
            <a:off x="1143001" y="0"/>
            <a:ext cx="9905998" cy="1478570"/>
          </a:xfrm>
        </p:spPr>
        <p:txBody>
          <a:bodyPr/>
          <a:lstStyle/>
          <a:p>
            <a:r>
              <a:rPr lang="zh-CN" altLang="en-US" dirty="0">
                <a:latin typeface="Times New Roman" panose="02020603050405020304" pitchFamily="18" charset="0"/>
                <a:ea typeface="黑体" panose="02010609060101010101" pitchFamily="49" charset="-122"/>
                <a:cs typeface="Times New Roman" panose="02020603050405020304" pitchFamily="18" charset="0"/>
              </a:rPr>
              <a:t>实验结果：</a:t>
            </a:r>
            <a:r>
              <a:rPr lang="en-US" altLang="zh-CN" sz="4400" dirty="0">
                <a:latin typeface="Times New Roman" panose="02020603050405020304" pitchFamily="18" charset="0"/>
                <a:ea typeface="黑体" panose="02010609060101010101" pitchFamily="49" charset="-122"/>
                <a:cs typeface="Times New Roman" panose="02020603050405020304" pitchFamily="18" charset="0"/>
              </a:rPr>
              <a:t>Breast Cancer</a:t>
            </a:r>
            <a:r>
              <a:rPr lang="zh-CN" altLang="en-US" dirty="0">
                <a:latin typeface="Times New Roman" panose="02020603050405020304" pitchFamily="18" charset="0"/>
                <a:ea typeface="黑体" panose="02010609060101010101" pitchFamily="49" charset="-122"/>
                <a:cs typeface="Times New Roman" panose="02020603050405020304" pitchFamily="18" charset="0"/>
              </a:rPr>
              <a:t>测试集</a:t>
            </a:r>
            <a:endParaRPr lang="zh-CN" altLang="en-US" dirty="0"/>
          </a:p>
        </p:txBody>
      </p:sp>
      <p:sp>
        <p:nvSpPr>
          <p:cNvPr id="3" name="内容占位符 2">
            <a:extLst>
              <a:ext uri="{FF2B5EF4-FFF2-40B4-BE49-F238E27FC236}">
                <a16:creationId xmlns:a16="http://schemas.microsoft.com/office/drawing/2014/main" id="{6DDF8FEA-962C-61A8-EC07-62A61034E2BB}"/>
              </a:ext>
            </a:extLst>
          </p:cNvPr>
          <p:cNvSpPr>
            <a:spLocks noGrp="1"/>
          </p:cNvSpPr>
          <p:nvPr>
            <p:ph idx="1"/>
          </p:nvPr>
        </p:nvSpPr>
        <p:spPr>
          <a:xfrm>
            <a:off x="839788" y="1478570"/>
            <a:ext cx="3247418" cy="4351338"/>
          </a:xfrm>
        </p:spPr>
        <p:txBody>
          <a:bodyPr>
            <a:normAutofit/>
          </a:bodyPr>
          <a:lstStyle/>
          <a:p>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从</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ROC</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曲线来看，</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NOA-</a:t>
            </a:r>
            <a:r>
              <a:rPr lang="en-US" altLang="zh-CN" sz="2000" dirty="0" err="1">
                <a:latin typeface="Times New Roman" panose="02020603050405020304" pitchFamily="18" charset="0"/>
                <a:ea typeface="黑体" panose="02010609060101010101" pitchFamily="49" charset="-122"/>
                <a:cs typeface="Times New Roman" panose="02020603050405020304" pitchFamily="18" charset="0"/>
              </a:rPr>
              <a:t>SVM</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围成的面积相较普通</a:t>
            </a:r>
            <a:r>
              <a:rPr lang="en-US" altLang="zh-CN" sz="2000" dirty="0" err="1">
                <a:latin typeface="Times New Roman" panose="02020603050405020304" pitchFamily="18" charset="0"/>
                <a:ea typeface="黑体" panose="02010609060101010101" pitchFamily="49" charset="-122"/>
                <a:cs typeface="Times New Roman" panose="02020603050405020304" pitchFamily="18" charset="0"/>
              </a:rPr>
              <a:t>SVM</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更大，整体来看，</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NOA-</a:t>
            </a:r>
            <a:r>
              <a:rPr lang="en-US" altLang="zh-CN" sz="2000" dirty="0" err="1">
                <a:latin typeface="Times New Roman" panose="02020603050405020304" pitchFamily="18" charset="0"/>
                <a:ea typeface="黑体" panose="02010609060101010101" pitchFamily="49" charset="-122"/>
                <a:cs typeface="Times New Roman" panose="02020603050405020304" pitchFamily="18" charset="0"/>
              </a:rPr>
              <a:t>SVM</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更加靠近左上角。这说明了</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NOA-</a:t>
            </a:r>
            <a:r>
              <a:rPr lang="en-US" altLang="zh-CN" sz="2000" dirty="0" err="1">
                <a:latin typeface="Times New Roman" panose="02020603050405020304" pitchFamily="18" charset="0"/>
                <a:ea typeface="黑体" panose="02010609060101010101" pitchFamily="49" charset="-122"/>
                <a:cs typeface="Times New Roman" panose="02020603050405020304" pitchFamily="18" charset="0"/>
              </a:rPr>
              <a:t>SVM</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在不同的可能决策阈值下都能获得较低的假阳性率（</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FPR</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）和较高的真阳性率（</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TPR</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a:t>
            </a:r>
          </a:p>
        </p:txBody>
      </p:sp>
      <p:pic>
        <p:nvPicPr>
          <p:cNvPr id="6" name="图片 5">
            <a:extLst>
              <a:ext uri="{FF2B5EF4-FFF2-40B4-BE49-F238E27FC236}">
                <a16:creationId xmlns:a16="http://schemas.microsoft.com/office/drawing/2014/main" id="{46680710-DD04-822B-AA1E-12873CEA9BBF}"/>
              </a:ext>
            </a:extLst>
          </p:cNvPr>
          <p:cNvPicPr>
            <a:picLocks noChangeAspect="1"/>
          </p:cNvPicPr>
          <p:nvPr/>
        </p:nvPicPr>
        <p:blipFill>
          <a:blip r:embed="rId3">
            <a:extLst>
              <a:ext uri="{28A0092B-C50C-407E-A947-70E740481C1C}">
                <a14:useLocalDpi xmlns:a14="http://schemas.microsoft.com/office/drawing/2010/main" val="0"/>
              </a:ext>
            </a:extLst>
          </a:blip>
          <a:srcRect l="6888" t="8075" r="9375" b="3486"/>
          <a:stretch/>
        </p:blipFill>
        <p:spPr>
          <a:xfrm>
            <a:off x="4267234" y="1349821"/>
            <a:ext cx="7839528" cy="4608836"/>
          </a:xfrm>
          <a:prstGeom prst="rect">
            <a:avLst/>
          </a:prstGeom>
        </p:spPr>
      </p:pic>
    </p:spTree>
    <p:extLst>
      <p:ext uri="{BB962C8B-B14F-4D97-AF65-F5344CB8AC3E}">
        <p14:creationId xmlns:p14="http://schemas.microsoft.com/office/powerpoint/2010/main" val="128361501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电路">
  <a:themeElements>
    <a:clrScheme name="电路">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电路">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电路">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TM04033919[[fn=电路]]</Template>
  <TotalTime>1448</TotalTime>
  <Words>2684</Words>
  <Application>Microsoft Office PowerPoint</Application>
  <PresentationFormat>宽屏</PresentationFormat>
  <Paragraphs>323</Paragraphs>
  <Slides>17</Slides>
  <Notes>16</Notes>
  <HiddenSlides>0</HiddenSlides>
  <MMClips>0</MMClips>
  <ScaleCrop>false</ScaleCrop>
  <HeadingPairs>
    <vt:vector size="8" baseType="variant">
      <vt:variant>
        <vt:lpstr>已用的字体</vt:lpstr>
      </vt:variant>
      <vt:variant>
        <vt:i4>4</vt:i4>
      </vt:variant>
      <vt:variant>
        <vt:lpstr>主题</vt:lpstr>
      </vt:variant>
      <vt:variant>
        <vt:i4>1</vt:i4>
      </vt:variant>
      <vt:variant>
        <vt:lpstr>嵌入 OLE 服务器</vt:lpstr>
      </vt:variant>
      <vt:variant>
        <vt:i4>1</vt:i4>
      </vt:variant>
      <vt:variant>
        <vt:lpstr>幻灯片标题</vt:lpstr>
      </vt:variant>
      <vt:variant>
        <vt:i4>17</vt:i4>
      </vt:variant>
    </vt:vector>
  </HeadingPairs>
  <TitlesOfParts>
    <vt:vector size="23" baseType="lpstr">
      <vt:lpstr>黑体</vt:lpstr>
      <vt:lpstr>Arial</vt:lpstr>
      <vt:lpstr>Times New Roman</vt:lpstr>
      <vt:lpstr>Tw Cen MT</vt:lpstr>
      <vt:lpstr>电路</vt:lpstr>
      <vt:lpstr>Equation</vt:lpstr>
      <vt:lpstr>基于启发式方法的机器学习算法的性能优化研究</vt:lpstr>
      <vt:lpstr>星鸦优化算法 (NOA)</vt:lpstr>
      <vt:lpstr>NOA主要流程</vt:lpstr>
      <vt:lpstr>采用启发式算法优化支持向量机</vt:lpstr>
      <vt:lpstr>SVM Support Vector Machines</vt:lpstr>
      <vt:lpstr>SVM的实现细节</vt:lpstr>
      <vt:lpstr>SVM的局限性</vt:lpstr>
      <vt:lpstr>NOA-SVM算法介绍</vt:lpstr>
      <vt:lpstr>NOA-SVM流程</vt:lpstr>
      <vt:lpstr>多分类问题</vt:lpstr>
      <vt:lpstr>实验设置</vt:lpstr>
      <vt:lpstr>测试集介绍</vt:lpstr>
      <vt:lpstr>NOA实现结果</vt:lpstr>
      <vt:lpstr>实验结果：Iris测试集</vt:lpstr>
      <vt:lpstr>混淆矩阵：Iris测试集</vt:lpstr>
      <vt:lpstr>实验结果： Breast Cancer测试集</vt:lpstr>
      <vt:lpstr>实验结果：Breast Cancer测试集</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 j</dc:creator>
  <cp:lastModifiedBy>zh j</cp:lastModifiedBy>
  <cp:revision>333</cp:revision>
  <dcterms:created xsi:type="dcterms:W3CDTF">2024-10-31T04:49:57Z</dcterms:created>
  <dcterms:modified xsi:type="dcterms:W3CDTF">2025-12-14T08:10:52Z</dcterms:modified>
</cp:coreProperties>
</file>